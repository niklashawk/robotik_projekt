
<file path=[Content_Types].xml><?xml version="1.0" encoding="utf-8"?>
<Types xmlns="http://schemas.openxmlformats.org/package/2006/content-types">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theme/theme4.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5.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 id="2147483677" r:id="rId2"/>
    <p:sldMasterId id="2147483680" r:id="rId3"/>
    <p:sldMasterId id="2147483683" r:id="rId4"/>
    <p:sldMasterId id="2147483685" r:id="rId5"/>
  </p:sldMasterIdLst>
  <p:notesMasterIdLst>
    <p:notesMasterId r:id="rId22"/>
  </p:notesMasterIdLst>
  <p:handoutMasterIdLst>
    <p:handoutMasterId r:id="rId23"/>
  </p:handoutMasterIdLst>
  <p:sldIdLst>
    <p:sldId id="256" r:id="rId6"/>
    <p:sldId id="259" r:id="rId7"/>
    <p:sldId id="267" r:id="rId8"/>
    <p:sldId id="283" r:id="rId9"/>
    <p:sldId id="275" r:id="rId10"/>
    <p:sldId id="271" r:id="rId11"/>
    <p:sldId id="278" r:id="rId12"/>
    <p:sldId id="276" r:id="rId13"/>
    <p:sldId id="272" r:id="rId14"/>
    <p:sldId id="279" r:id="rId15"/>
    <p:sldId id="273" r:id="rId16"/>
    <p:sldId id="281" r:id="rId17"/>
    <p:sldId id="280" r:id="rId18"/>
    <p:sldId id="274" r:id="rId19"/>
    <p:sldId id="282" r:id="rId20"/>
    <p:sldId id="264" r:id="rId2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 uri="{2D200454-40CA-4A62-9FC3-DE9A4176ACB9}">
      <p15:notesGuideLst xmlns:p15="http://schemas.microsoft.com/office/powerpoint/2012/main" xmlns=""/>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FF29D2-F2ED-D392-A62B-E6FD3DBA720F}" name="Onken, Celina" initials="" userId="S::celina.onken@stud.uni-goettingen.de::428c1412-5e8d-4fce-ba85-7ec4e3c12d0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708B"/>
    <a:srgbClr val="15253E"/>
    <a:srgbClr val="A8A8A7"/>
    <a:srgbClr val="5757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81" autoAdjust="0"/>
    <p:restoredTop sz="79680" autoAdjust="0"/>
  </p:normalViewPr>
  <p:slideViewPr>
    <p:cSldViewPr snapToGrid="0" snapToObjects="1" showGuides="1">
      <p:cViewPr varScale="1">
        <p:scale>
          <a:sx n="102" d="100"/>
          <a:sy n="102" d="100"/>
        </p:scale>
        <p:origin x="-960" y="-96"/>
      </p:cViewPr>
      <p:guideLst>
        <p:guide orient="horz" pos="2160"/>
        <p:guide pos="3840"/>
      </p:guideLst>
    </p:cSldViewPr>
  </p:slideViewPr>
  <p:notesTextViewPr>
    <p:cViewPr>
      <p:scale>
        <a:sx n="1" d="1"/>
        <a:sy n="1" d="1"/>
      </p:scale>
      <p:origin x="0" y="0"/>
    </p:cViewPr>
  </p:notesTextViewPr>
  <p:sorterViewPr>
    <p:cViewPr>
      <p:scale>
        <a:sx n="100" d="100"/>
        <a:sy n="100" d="100"/>
      </p:scale>
      <p:origin x="0" y="-2616"/>
    </p:cViewPr>
  </p:sorterViewPr>
  <p:notesViewPr>
    <p:cSldViewPr snapToGrid="0" snapToObjects="1" showGuides="1">
      <p:cViewPr varScale="1">
        <p:scale>
          <a:sx n="111" d="100"/>
          <a:sy n="111" d="100"/>
        </p:scale>
        <p:origin x="3640"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notesMaster" Target="notesMasters/notes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rgbClr val="AF708B"/>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rgbClr val="AF708B"/>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rgbClr val="AF708B"/>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rgbClr val="AF708B"/>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rgbClr val="AF708B"/>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rgbClr val="AF708B"/>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rgbClr val="AF708B"/>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rgbClr val="AF708B"/>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rgbClr val="AF708B"/>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rgbClr val="AF708B"/>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rgbClr val="AF708B"/>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chemeClr val="accent3">
            <a:lumMod val="60000"/>
            <a:lumOff val="40000"/>
          </a:schemeClr>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rgbClr val="AF708B"/>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55284EF-BC27-4DA5-9EDF-8AE4DDA7BC51}" type="doc">
      <dgm:prSet loTypeId="urn:microsoft.com/office/officeart/2005/8/layout/hChevron3" loCatId="process" qsTypeId="urn:microsoft.com/office/officeart/2005/8/quickstyle/simple1" qsCatId="simple" csTypeId="urn:microsoft.com/office/officeart/2005/8/colors/accent3_2" csCatId="accent3" phldr="1"/>
      <dgm:spPr/>
    </dgm:pt>
    <dgm:pt modelId="{F7E3C992-C657-49E7-ACA5-E42336492979}">
      <dgm:prSet phldrT="[Text]"/>
      <dgm:spPr>
        <a:solidFill>
          <a:schemeClr val="accent3">
            <a:lumMod val="60000"/>
            <a:lumOff val="40000"/>
          </a:schemeClr>
        </a:solidFill>
      </dgm:spPr>
      <dgm:t>
        <a:bodyPr/>
        <a:lstStyle/>
        <a:p>
          <a:r>
            <a:rPr lang="de-DE" dirty="0" err="1"/>
            <a:t>Rectified</a:t>
          </a:r>
          <a:r>
            <a:rPr lang="de-DE" dirty="0"/>
            <a:t>_</a:t>
          </a:r>
          <a:br>
            <a:rPr lang="de-DE" dirty="0"/>
          </a:br>
          <a:r>
            <a:rPr lang="de-DE" dirty="0" err="1"/>
            <a:t>Image_Node</a:t>
          </a:r>
          <a:endParaRPr lang="de-DE" dirty="0"/>
        </a:p>
      </dgm:t>
    </dgm:pt>
    <dgm:pt modelId="{6DCFBE8B-F45F-409D-98FF-6AF3399A8835}" type="parTrans" cxnId="{B1FF62FC-500F-4616-B74E-9EF829F9ED89}">
      <dgm:prSet/>
      <dgm:spPr/>
      <dgm:t>
        <a:bodyPr/>
        <a:lstStyle/>
        <a:p>
          <a:endParaRPr lang="de-DE"/>
        </a:p>
      </dgm:t>
    </dgm:pt>
    <dgm:pt modelId="{FFFC7363-591D-4181-94FA-06D98E216F60}" type="sibTrans" cxnId="{B1FF62FC-500F-4616-B74E-9EF829F9ED89}">
      <dgm:prSet/>
      <dgm:spPr/>
      <dgm:t>
        <a:bodyPr/>
        <a:lstStyle/>
        <a:p>
          <a:endParaRPr lang="de-DE"/>
        </a:p>
      </dgm:t>
    </dgm:pt>
    <dgm:pt modelId="{F2DFE4AB-F198-4BE7-9E95-7149171FE726}">
      <dgm:prSet phldrT="[Text]"/>
      <dgm:spPr>
        <a:solidFill>
          <a:srgbClr val="AF708B"/>
        </a:solidFill>
      </dgm:spPr>
      <dgm:t>
        <a:bodyPr/>
        <a:lstStyle/>
        <a:p>
          <a:r>
            <a:rPr lang="de-DE" dirty="0"/>
            <a:t>Fahren …</a:t>
          </a:r>
        </a:p>
      </dgm:t>
    </dgm:pt>
    <dgm:pt modelId="{33C54E50-A561-4388-A802-44486C05B301}" type="parTrans" cxnId="{4E86E676-75D2-4B33-921D-DBAD52BB0428}">
      <dgm:prSet/>
      <dgm:spPr/>
      <dgm:t>
        <a:bodyPr/>
        <a:lstStyle/>
        <a:p>
          <a:endParaRPr lang="de-DE"/>
        </a:p>
      </dgm:t>
    </dgm:pt>
    <dgm:pt modelId="{CD996BCA-9739-49A7-BE4F-2023DB5DD4E7}" type="sibTrans" cxnId="{4E86E676-75D2-4B33-921D-DBAD52BB0428}">
      <dgm:prSet/>
      <dgm:spPr/>
      <dgm:t>
        <a:bodyPr/>
        <a:lstStyle/>
        <a:p>
          <a:endParaRPr lang="de-DE"/>
        </a:p>
      </dgm:t>
    </dgm:pt>
    <dgm:pt modelId="{71C14D5C-CD96-489B-ADDD-87A1DE0C1BAC}">
      <dgm:prSet phldrT="[Text]"/>
      <dgm:spPr>
        <a:solidFill>
          <a:schemeClr val="accent3">
            <a:lumMod val="60000"/>
            <a:lumOff val="40000"/>
          </a:schemeClr>
        </a:solidFill>
      </dgm:spPr>
      <dgm:t>
        <a:bodyPr/>
        <a:lstStyle/>
        <a:p>
          <a:r>
            <a:rPr lang="de-DE" dirty="0" err="1"/>
            <a:t>Follow_Line</a:t>
          </a:r>
          <a:r>
            <a:rPr lang="de-DE" dirty="0"/>
            <a:t>_</a:t>
          </a:r>
          <a:br>
            <a:rPr lang="de-DE" dirty="0"/>
          </a:br>
          <a:r>
            <a:rPr lang="de-DE" dirty="0"/>
            <a:t>Node</a:t>
          </a:r>
        </a:p>
      </dgm:t>
    </dgm:pt>
    <dgm:pt modelId="{34A86944-71BB-4DDA-8E47-01BD0A07169A}" type="parTrans" cxnId="{60DAF504-CD4E-467E-935C-56A827B5701A}">
      <dgm:prSet/>
      <dgm:spPr/>
      <dgm:t>
        <a:bodyPr/>
        <a:lstStyle/>
        <a:p>
          <a:endParaRPr lang="de-DE"/>
        </a:p>
      </dgm:t>
    </dgm:pt>
    <dgm:pt modelId="{45678C71-3D1A-48BC-AD73-1ADEB7132ED0}" type="sibTrans" cxnId="{60DAF504-CD4E-467E-935C-56A827B5701A}">
      <dgm:prSet/>
      <dgm:spPr/>
      <dgm:t>
        <a:bodyPr/>
        <a:lstStyle/>
        <a:p>
          <a:endParaRPr lang="de-DE"/>
        </a:p>
      </dgm:t>
    </dgm:pt>
    <dgm:pt modelId="{3343B077-7519-4707-BD28-9FED6DBEB7F6}">
      <dgm:prSet phldrT="[Text]"/>
      <dgm:spPr>
        <a:solidFill>
          <a:schemeClr val="accent3">
            <a:lumMod val="60000"/>
            <a:lumOff val="40000"/>
          </a:schemeClr>
        </a:solidFill>
      </dgm:spPr>
      <dgm:t>
        <a:bodyPr/>
        <a:lstStyle/>
        <a:p>
          <a:r>
            <a:rPr lang="de-DE" dirty="0"/>
            <a:t>Zusammenspiel der Nodes</a:t>
          </a:r>
        </a:p>
      </dgm:t>
    </dgm:pt>
    <dgm:pt modelId="{B1EE7652-AF9F-44A2-BFCC-2B2926D54E21}" type="parTrans" cxnId="{38F58492-B3D6-4F45-AC34-178A3B69984B}">
      <dgm:prSet/>
      <dgm:spPr/>
      <dgm:t>
        <a:bodyPr/>
        <a:lstStyle/>
        <a:p>
          <a:endParaRPr lang="de-DE"/>
        </a:p>
      </dgm:t>
    </dgm:pt>
    <dgm:pt modelId="{E567DC1F-55AB-4039-B21B-2648C259E916}" type="sibTrans" cxnId="{38F58492-B3D6-4F45-AC34-178A3B69984B}">
      <dgm:prSet/>
      <dgm:spPr/>
      <dgm:t>
        <a:bodyPr/>
        <a:lstStyle/>
        <a:p>
          <a:endParaRPr lang="de-DE"/>
        </a:p>
      </dgm:t>
    </dgm:pt>
    <dgm:pt modelId="{ED79C73E-6D7D-4AF0-9E53-C6CD2332565F}">
      <dgm:prSet phldrT="[Text]"/>
      <dgm:spPr>
        <a:solidFill>
          <a:schemeClr val="accent3">
            <a:lumMod val="60000"/>
            <a:lumOff val="40000"/>
          </a:schemeClr>
        </a:solidFill>
      </dgm:spPr>
      <dgm:t>
        <a:bodyPr/>
        <a:lstStyle/>
        <a:p>
          <a:r>
            <a:rPr lang="de-DE" dirty="0"/>
            <a:t>Birdseye_</a:t>
          </a:r>
          <a:br>
            <a:rPr lang="de-DE" dirty="0"/>
          </a:br>
          <a:r>
            <a:rPr lang="de-DE" dirty="0"/>
            <a:t>Node</a:t>
          </a:r>
        </a:p>
      </dgm:t>
    </dgm:pt>
    <dgm:pt modelId="{5AB82E1E-7994-490D-AA44-70359502D7C4}" type="parTrans" cxnId="{6A80D28F-4911-4498-ACB1-0C193D905790}">
      <dgm:prSet/>
      <dgm:spPr/>
      <dgm:t>
        <a:bodyPr/>
        <a:lstStyle/>
        <a:p>
          <a:endParaRPr lang="de-DE"/>
        </a:p>
      </dgm:t>
    </dgm:pt>
    <dgm:pt modelId="{0CDA27B2-F892-453F-82C8-8AFDD50A345D}" type="sibTrans" cxnId="{6A80D28F-4911-4498-ACB1-0C193D905790}">
      <dgm:prSet/>
      <dgm:spPr/>
      <dgm:t>
        <a:bodyPr/>
        <a:lstStyle/>
        <a:p>
          <a:endParaRPr lang="de-DE"/>
        </a:p>
      </dgm:t>
    </dgm:pt>
    <dgm:pt modelId="{55BF9A51-9442-43BD-A7B1-C08A52DC14C0}">
      <dgm:prSet phldrT="[Text]"/>
      <dgm:spPr>
        <a:solidFill>
          <a:schemeClr val="accent3">
            <a:lumMod val="60000"/>
            <a:lumOff val="40000"/>
          </a:schemeClr>
        </a:solidFill>
      </dgm:spPr>
      <dgm:t>
        <a:bodyPr/>
        <a:lstStyle/>
        <a:p>
          <a:r>
            <a:rPr lang="de-DE" dirty="0" err="1"/>
            <a:t>Birdseye_With</a:t>
          </a:r>
          <a:r>
            <a:rPr lang="de-DE" dirty="0"/>
            <a:t>_</a:t>
          </a:r>
          <a:br>
            <a:rPr lang="de-DE" dirty="0"/>
          </a:br>
          <a:r>
            <a:rPr lang="de-DE" dirty="0" err="1"/>
            <a:t>LiDAR_Node</a:t>
          </a:r>
          <a:endParaRPr lang="de-DE" dirty="0"/>
        </a:p>
      </dgm:t>
    </dgm:pt>
    <dgm:pt modelId="{35303BBC-8F7E-401F-BF22-4BC9073B9D54}" type="parTrans" cxnId="{C28BF138-10CE-4AE2-9596-685DFA3537FD}">
      <dgm:prSet/>
      <dgm:spPr/>
      <dgm:t>
        <a:bodyPr/>
        <a:lstStyle/>
        <a:p>
          <a:endParaRPr lang="de-DE"/>
        </a:p>
      </dgm:t>
    </dgm:pt>
    <dgm:pt modelId="{8D7E3942-A186-4806-8E81-4ADA6E3C59D1}" type="sibTrans" cxnId="{C28BF138-10CE-4AE2-9596-685DFA3537FD}">
      <dgm:prSet/>
      <dgm:spPr/>
      <dgm:t>
        <a:bodyPr/>
        <a:lstStyle/>
        <a:p>
          <a:endParaRPr lang="de-DE"/>
        </a:p>
      </dgm:t>
    </dgm:pt>
    <dgm:pt modelId="{2BAD27FF-08E8-4497-884B-917B02BC9AF2}" type="pres">
      <dgm:prSet presAssocID="{D55284EF-BC27-4DA5-9EDF-8AE4DDA7BC51}" presName="Name0" presStyleCnt="0">
        <dgm:presLayoutVars>
          <dgm:dir/>
          <dgm:resizeHandles val="exact"/>
        </dgm:presLayoutVars>
      </dgm:prSet>
      <dgm:spPr/>
    </dgm:pt>
    <dgm:pt modelId="{AA7F5C41-158D-4160-AA0E-A9E925436152}" type="pres">
      <dgm:prSet presAssocID="{F7E3C992-C657-49E7-ACA5-E42336492979}" presName="parTxOnly" presStyleLbl="node1" presStyleIdx="0" presStyleCnt="6">
        <dgm:presLayoutVars>
          <dgm:bulletEnabled val="1"/>
        </dgm:presLayoutVars>
      </dgm:prSet>
      <dgm:spPr/>
      <dgm:t>
        <a:bodyPr/>
        <a:lstStyle/>
        <a:p>
          <a:endParaRPr lang="de-DE"/>
        </a:p>
      </dgm:t>
    </dgm:pt>
    <dgm:pt modelId="{A2B8D1D5-A327-4594-8646-B6998CA32020}" type="pres">
      <dgm:prSet presAssocID="{FFFC7363-591D-4181-94FA-06D98E216F60}" presName="parSpace" presStyleCnt="0"/>
      <dgm:spPr/>
    </dgm:pt>
    <dgm:pt modelId="{47E5C38D-7DBB-4591-AF37-3E0560EA7B5D}" type="pres">
      <dgm:prSet presAssocID="{ED79C73E-6D7D-4AF0-9E53-C6CD2332565F}" presName="parTxOnly" presStyleLbl="node1" presStyleIdx="1" presStyleCnt="6">
        <dgm:presLayoutVars>
          <dgm:bulletEnabled val="1"/>
        </dgm:presLayoutVars>
      </dgm:prSet>
      <dgm:spPr/>
      <dgm:t>
        <a:bodyPr/>
        <a:lstStyle/>
        <a:p>
          <a:endParaRPr lang="de-DE"/>
        </a:p>
      </dgm:t>
    </dgm:pt>
    <dgm:pt modelId="{4317E639-6256-41AF-870C-B3C8032423C3}" type="pres">
      <dgm:prSet presAssocID="{0CDA27B2-F892-453F-82C8-8AFDD50A345D}" presName="parSpace" presStyleCnt="0"/>
      <dgm:spPr/>
    </dgm:pt>
    <dgm:pt modelId="{652A39D3-F429-44F0-B68F-2347DA867BC5}" type="pres">
      <dgm:prSet presAssocID="{55BF9A51-9442-43BD-A7B1-C08A52DC14C0}" presName="parTxOnly" presStyleLbl="node1" presStyleIdx="2" presStyleCnt="6">
        <dgm:presLayoutVars>
          <dgm:bulletEnabled val="1"/>
        </dgm:presLayoutVars>
      </dgm:prSet>
      <dgm:spPr/>
      <dgm:t>
        <a:bodyPr/>
        <a:lstStyle/>
        <a:p>
          <a:endParaRPr lang="de-DE"/>
        </a:p>
      </dgm:t>
    </dgm:pt>
    <dgm:pt modelId="{EFBEC68C-933F-471C-BC32-536F9D7E6863}" type="pres">
      <dgm:prSet presAssocID="{8D7E3942-A186-4806-8E81-4ADA6E3C59D1}" presName="parSpace" presStyleCnt="0"/>
      <dgm:spPr/>
    </dgm:pt>
    <dgm:pt modelId="{FC39C9DF-4551-4D23-92BD-CAA8BC814F1D}" type="pres">
      <dgm:prSet presAssocID="{71C14D5C-CD96-489B-ADDD-87A1DE0C1BAC}" presName="parTxOnly" presStyleLbl="node1" presStyleIdx="3" presStyleCnt="6">
        <dgm:presLayoutVars>
          <dgm:bulletEnabled val="1"/>
        </dgm:presLayoutVars>
      </dgm:prSet>
      <dgm:spPr/>
      <dgm:t>
        <a:bodyPr/>
        <a:lstStyle/>
        <a:p>
          <a:endParaRPr lang="de-DE"/>
        </a:p>
      </dgm:t>
    </dgm:pt>
    <dgm:pt modelId="{B323C126-7252-440E-9522-C0571B6268F3}" type="pres">
      <dgm:prSet presAssocID="{45678C71-3D1A-48BC-AD73-1ADEB7132ED0}" presName="parSpace" presStyleCnt="0"/>
      <dgm:spPr/>
    </dgm:pt>
    <dgm:pt modelId="{8ABCD2AC-1155-4856-95B0-CF641EB23FDE}" type="pres">
      <dgm:prSet presAssocID="{3343B077-7519-4707-BD28-9FED6DBEB7F6}" presName="parTxOnly" presStyleLbl="node1" presStyleIdx="4" presStyleCnt="6">
        <dgm:presLayoutVars>
          <dgm:bulletEnabled val="1"/>
        </dgm:presLayoutVars>
      </dgm:prSet>
      <dgm:spPr/>
      <dgm:t>
        <a:bodyPr/>
        <a:lstStyle/>
        <a:p>
          <a:endParaRPr lang="de-DE"/>
        </a:p>
      </dgm:t>
    </dgm:pt>
    <dgm:pt modelId="{63C9D51B-E4B6-4C18-A94B-0C3C6D8A30E3}" type="pres">
      <dgm:prSet presAssocID="{E567DC1F-55AB-4039-B21B-2648C259E916}" presName="parSpace" presStyleCnt="0"/>
      <dgm:spPr/>
    </dgm:pt>
    <dgm:pt modelId="{75CC07CA-ADFD-4188-800F-E0E46DC27D0B}" type="pres">
      <dgm:prSet presAssocID="{F2DFE4AB-F198-4BE7-9E95-7149171FE726}" presName="parTxOnly" presStyleLbl="node1" presStyleIdx="5" presStyleCnt="6">
        <dgm:presLayoutVars>
          <dgm:bulletEnabled val="1"/>
        </dgm:presLayoutVars>
      </dgm:prSet>
      <dgm:spPr/>
      <dgm:t>
        <a:bodyPr/>
        <a:lstStyle/>
        <a:p>
          <a:endParaRPr lang="de-DE"/>
        </a:p>
      </dgm:t>
    </dgm:pt>
  </dgm:ptLst>
  <dgm:cxnLst>
    <dgm:cxn modelId="{4DBFDAE2-7757-4BB8-86B7-2F777E01497A}" type="presOf" srcId="{ED79C73E-6D7D-4AF0-9E53-C6CD2332565F}" destId="{47E5C38D-7DBB-4591-AF37-3E0560EA7B5D}" srcOrd="0" destOrd="0" presId="urn:microsoft.com/office/officeart/2005/8/layout/hChevron3"/>
    <dgm:cxn modelId="{4E86E676-75D2-4B33-921D-DBAD52BB0428}" srcId="{D55284EF-BC27-4DA5-9EDF-8AE4DDA7BC51}" destId="{F2DFE4AB-F198-4BE7-9E95-7149171FE726}" srcOrd="5" destOrd="0" parTransId="{33C54E50-A561-4388-A802-44486C05B301}" sibTransId="{CD996BCA-9739-49A7-BE4F-2023DB5DD4E7}"/>
    <dgm:cxn modelId="{C28BF138-10CE-4AE2-9596-685DFA3537FD}" srcId="{D55284EF-BC27-4DA5-9EDF-8AE4DDA7BC51}" destId="{55BF9A51-9442-43BD-A7B1-C08A52DC14C0}" srcOrd="2" destOrd="0" parTransId="{35303BBC-8F7E-401F-BF22-4BC9073B9D54}" sibTransId="{8D7E3942-A186-4806-8E81-4ADA6E3C59D1}"/>
    <dgm:cxn modelId="{144F4931-A73D-4D7B-8133-0828AAACE357}" type="presOf" srcId="{D55284EF-BC27-4DA5-9EDF-8AE4DDA7BC51}" destId="{2BAD27FF-08E8-4497-884B-917B02BC9AF2}" srcOrd="0" destOrd="0" presId="urn:microsoft.com/office/officeart/2005/8/layout/hChevron3"/>
    <dgm:cxn modelId="{60DAF504-CD4E-467E-935C-56A827B5701A}" srcId="{D55284EF-BC27-4DA5-9EDF-8AE4DDA7BC51}" destId="{71C14D5C-CD96-489B-ADDD-87A1DE0C1BAC}" srcOrd="3" destOrd="0" parTransId="{34A86944-71BB-4DDA-8E47-01BD0A07169A}" sibTransId="{45678C71-3D1A-48BC-AD73-1ADEB7132ED0}"/>
    <dgm:cxn modelId="{B1FF62FC-500F-4616-B74E-9EF829F9ED89}" srcId="{D55284EF-BC27-4DA5-9EDF-8AE4DDA7BC51}" destId="{F7E3C992-C657-49E7-ACA5-E42336492979}" srcOrd="0" destOrd="0" parTransId="{6DCFBE8B-F45F-409D-98FF-6AF3399A8835}" sibTransId="{FFFC7363-591D-4181-94FA-06D98E216F60}"/>
    <dgm:cxn modelId="{287F16AB-8D8B-45D7-A777-AC424CCAE87F}" type="presOf" srcId="{F2DFE4AB-F198-4BE7-9E95-7149171FE726}" destId="{75CC07CA-ADFD-4188-800F-E0E46DC27D0B}" srcOrd="0" destOrd="0" presId="urn:microsoft.com/office/officeart/2005/8/layout/hChevron3"/>
    <dgm:cxn modelId="{11A8F5A3-DB94-40E7-B444-A0F28AD52A5B}" type="presOf" srcId="{55BF9A51-9442-43BD-A7B1-C08A52DC14C0}" destId="{652A39D3-F429-44F0-B68F-2347DA867BC5}" srcOrd="0" destOrd="0" presId="urn:microsoft.com/office/officeart/2005/8/layout/hChevron3"/>
    <dgm:cxn modelId="{38F58492-B3D6-4F45-AC34-178A3B69984B}" srcId="{D55284EF-BC27-4DA5-9EDF-8AE4DDA7BC51}" destId="{3343B077-7519-4707-BD28-9FED6DBEB7F6}" srcOrd="4" destOrd="0" parTransId="{B1EE7652-AF9F-44A2-BFCC-2B2926D54E21}" sibTransId="{E567DC1F-55AB-4039-B21B-2648C259E916}"/>
    <dgm:cxn modelId="{6A80D28F-4911-4498-ACB1-0C193D905790}" srcId="{D55284EF-BC27-4DA5-9EDF-8AE4DDA7BC51}" destId="{ED79C73E-6D7D-4AF0-9E53-C6CD2332565F}" srcOrd="1" destOrd="0" parTransId="{5AB82E1E-7994-490D-AA44-70359502D7C4}" sibTransId="{0CDA27B2-F892-453F-82C8-8AFDD50A345D}"/>
    <dgm:cxn modelId="{7E596AFD-CD2C-4A67-AF26-1FED23BD0D0E}" type="presOf" srcId="{3343B077-7519-4707-BD28-9FED6DBEB7F6}" destId="{8ABCD2AC-1155-4856-95B0-CF641EB23FDE}" srcOrd="0" destOrd="0" presId="urn:microsoft.com/office/officeart/2005/8/layout/hChevron3"/>
    <dgm:cxn modelId="{9FB8DE75-937C-46FA-9A06-2E96FF13AF02}" type="presOf" srcId="{71C14D5C-CD96-489B-ADDD-87A1DE0C1BAC}" destId="{FC39C9DF-4551-4D23-92BD-CAA8BC814F1D}" srcOrd="0" destOrd="0" presId="urn:microsoft.com/office/officeart/2005/8/layout/hChevron3"/>
    <dgm:cxn modelId="{D6725870-1BAE-4893-AB5E-49D5D3431F7A}" type="presOf" srcId="{F7E3C992-C657-49E7-ACA5-E42336492979}" destId="{AA7F5C41-158D-4160-AA0E-A9E925436152}" srcOrd="0" destOrd="0" presId="urn:microsoft.com/office/officeart/2005/8/layout/hChevron3"/>
    <dgm:cxn modelId="{B62AB937-B420-4240-BB4B-33C34ADC07E6}" type="presParOf" srcId="{2BAD27FF-08E8-4497-884B-917B02BC9AF2}" destId="{AA7F5C41-158D-4160-AA0E-A9E925436152}" srcOrd="0" destOrd="0" presId="urn:microsoft.com/office/officeart/2005/8/layout/hChevron3"/>
    <dgm:cxn modelId="{D28CA0A0-98EA-43C3-B18C-7267D04634BE}" type="presParOf" srcId="{2BAD27FF-08E8-4497-884B-917B02BC9AF2}" destId="{A2B8D1D5-A327-4594-8646-B6998CA32020}" srcOrd="1" destOrd="0" presId="urn:microsoft.com/office/officeart/2005/8/layout/hChevron3"/>
    <dgm:cxn modelId="{7F1169A3-36B2-4C7B-B1B8-4B7C5581E3CC}" type="presParOf" srcId="{2BAD27FF-08E8-4497-884B-917B02BC9AF2}" destId="{47E5C38D-7DBB-4591-AF37-3E0560EA7B5D}" srcOrd="2" destOrd="0" presId="urn:microsoft.com/office/officeart/2005/8/layout/hChevron3"/>
    <dgm:cxn modelId="{503ED590-C15C-49E3-930B-B96DE9338730}" type="presParOf" srcId="{2BAD27FF-08E8-4497-884B-917B02BC9AF2}" destId="{4317E639-6256-41AF-870C-B3C8032423C3}" srcOrd="3" destOrd="0" presId="urn:microsoft.com/office/officeart/2005/8/layout/hChevron3"/>
    <dgm:cxn modelId="{7F3A4DA1-7F0E-4B49-B10E-D4E502B8B430}" type="presParOf" srcId="{2BAD27FF-08E8-4497-884B-917B02BC9AF2}" destId="{652A39D3-F429-44F0-B68F-2347DA867BC5}" srcOrd="4" destOrd="0" presId="urn:microsoft.com/office/officeart/2005/8/layout/hChevron3"/>
    <dgm:cxn modelId="{B388A2BF-E91A-4947-B7B9-FC2DF2689F0B}" type="presParOf" srcId="{2BAD27FF-08E8-4497-884B-917B02BC9AF2}" destId="{EFBEC68C-933F-471C-BC32-536F9D7E6863}" srcOrd="5" destOrd="0" presId="urn:microsoft.com/office/officeart/2005/8/layout/hChevron3"/>
    <dgm:cxn modelId="{B5527E37-DB2E-48D8-A2A8-42E13E30630F}" type="presParOf" srcId="{2BAD27FF-08E8-4497-884B-917B02BC9AF2}" destId="{FC39C9DF-4551-4D23-92BD-CAA8BC814F1D}" srcOrd="6" destOrd="0" presId="urn:microsoft.com/office/officeart/2005/8/layout/hChevron3"/>
    <dgm:cxn modelId="{B50518CE-19BE-43C8-AA0E-8FC5B267D8A8}" type="presParOf" srcId="{2BAD27FF-08E8-4497-884B-917B02BC9AF2}" destId="{B323C126-7252-440E-9522-C0571B6268F3}" srcOrd="7" destOrd="0" presId="urn:microsoft.com/office/officeart/2005/8/layout/hChevron3"/>
    <dgm:cxn modelId="{F16FB9D1-21FF-4A81-A043-691D83C45CD6}" type="presParOf" srcId="{2BAD27FF-08E8-4497-884B-917B02BC9AF2}" destId="{8ABCD2AC-1155-4856-95B0-CF641EB23FDE}" srcOrd="8" destOrd="0" presId="urn:microsoft.com/office/officeart/2005/8/layout/hChevron3"/>
    <dgm:cxn modelId="{98E80C7B-D08D-4D50-B885-211CC8F6F8B2}" type="presParOf" srcId="{2BAD27FF-08E8-4497-884B-917B02BC9AF2}" destId="{63C9D51B-E4B6-4C18-A94B-0C3C6D8A30E3}" srcOrd="9" destOrd="0" presId="urn:microsoft.com/office/officeart/2005/8/layout/hChevron3"/>
    <dgm:cxn modelId="{F223E155-FB5A-49DD-90F2-04893646DA89}" type="presParOf" srcId="{2BAD27FF-08E8-4497-884B-917B02BC9AF2}" destId="{75CC07CA-ADFD-4188-800F-E0E46DC27D0B}" srcOrd="10" destOrd="0" presId="urn:microsoft.com/office/officeart/2005/8/layout/hChevron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7F5C41-158D-4160-AA0E-A9E925436152}">
      <dsp:nvSpPr>
        <dsp:cNvPr id="0" name=""/>
        <dsp:cNvSpPr/>
      </dsp:nvSpPr>
      <dsp:spPr>
        <a:xfrm>
          <a:off x="762" y="130177"/>
          <a:ext cx="1248648" cy="499459"/>
        </a:xfrm>
        <a:prstGeom prst="homePlate">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2672"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Rectified</a:t>
          </a:r>
          <a:r>
            <a:rPr lang="de-DE" sz="800" kern="1200" dirty="0"/>
            <a:t>_</a:t>
          </a:r>
          <a:br>
            <a:rPr lang="de-DE" sz="800" kern="1200" dirty="0"/>
          </a:br>
          <a:r>
            <a:rPr lang="de-DE" sz="800" kern="1200" dirty="0" err="1"/>
            <a:t>Image_Node</a:t>
          </a:r>
          <a:endParaRPr lang="de-DE" sz="800" kern="1200" dirty="0"/>
        </a:p>
      </dsp:txBody>
      <dsp:txXfrm>
        <a:off x="762" y="130177"/>
        <a:ext cx="1123783" cy="499459"/>
      </dsp:txXfrm>
    </dsp:sp>
    <dsp:sp modelId="{47E5C38D-7DBB-4591-AF37-3E0560EA7B5D}">
      <dsp:nvSpPr>
        <dsp:cNvPr id="0" name=""/>
        <dsp:cNvSpPr/>
      </dsp:nvSpPr>
      <dsp:spPr>
        <a:xfrm>
          <a:off x="999680"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Birdseye_</a:t>
          </a:r>
          <a:br>
            <a:rPr lang="de-DE" sz="800" kern="1200" dirty="0"/>
          </a:br>
          <a:r>
            <a:rPr lang="de-DE" sz="800" kern="1200" dirty="0"/>
            <a:t>Node</a:t>
          </a:r>
        </a:p>
      </dsp:txBody>
      <dsp:txXfrm>
        <a:off x="1249410" y="130177"/>
        <a:ext cx="749189" cy="499459"/>
      </dsp:txXfrm>
    </dsp:sp>
    <dsp:sp modelId="{652A39D3-F429-44F0-B68F-2347DA867BC5}">
      <dsp:nvSpPr>
        <dsp:cNvPr id="0" name=""/>
        <dsp:cNvSpPr/>
      </dsp:nvSpPr>
      <dsp:spPr>
        <a:xfrm>
          <a:off x="1998599"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Birdseye_With</a:t>
          </a:r>
          <a:r>
            <a:rPr lang="de-DE" sz="800" kern="1200" dirty="0"/>
            <a:t>_</a:t>
          </a:r>
          <a:br>
            <a:rPr lang="de-DE" sz="800" kern="1200" dirty="0"/>
          </a:br>
          <a:r>
            <a:rPr lang="de-DE" sz="800" kern="1200" dirty="0" err="1"/>
            <a:t>LiDAR_Node</a:t>
          </a:r>
          <a:endParaRPr lang="de-DE" sz="800" kern="1200" dirty="0"/>
        </a:p>
      </dsp:txBody>
      <dsp:txXfrm>
        <a:off x="2248329" y="130177"/>
        <a:ext cx="749189" cy="499459"/>
      </dsp:txXfrm>
    </dsp:sp>
    <dsp:sp modelId="{FC39C9DF-4551-4D23-92BD-CAA8BC814F1D}">
      <dsp:nvSpPr>
        <dsp:cNvPr id="0" name=""/>
        <dsp:cNvSpPr/>
      </dsp:nvSpPr>
      <dsp:spPr>
        <a:xfrm>
          <a:off x="2997517"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err="1"/>
            <a:t>Follow_Line</a:t>
          </a:r>
          <a:r>
            <a:rPr lang="de-DE" sz="800" kern="1200" dirty="0"/>
            <a:t>_</a:t>
          </a:r>
          <a:br>
            <a:rPr lang="de-DE" sz="800" kern="1200" dirty="0"/>
          </a:br>
          <a:r>
            <a:rPr lang="de-DE" sz="800" kern="1200" dirty="0"/>
            <a:t>Node</a:t>
          </a:r>
        </a:p>
      </dsp:txBody>
      <dsp:txXfrm>
        <a:off x="3247247" y="130177"/>
        <a:ext cx="749189" cy="499459"/>
      </dsp:txXfrm>
    </dsp:sp>
    <dsp:sp modelId="{8ABCD2AC-1155-4856-95B0-CF641EB23FDE}">
      <dsp:nvSpPr>
        <dsp:cNvPr id="0" name=""/>
        <dsp:cNvSpPr/>
      </dsp:nvSpPr>
      <dsp:spPr>
        <a:xfrm>
          <a:off x="3996436" y="130177"/>
          <a:ext cx="1248648" cy="499459"/>
        </a:xfrm>
        <a:prstGeom prst="chevron">
          <a:avLst/>
        </a:prstGeom>
        <a:solidFill>
          <a:schemeClr val="accent3">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Zusammenspiel der Nodes</a:t>
          </a:r>
        </a:p>
      </dsp:txBody>
      <dsp:txXfrm>
        <a:off x="4246166" y="130177"/>
        <a:ext cx="749189" cy="499459"/>
      </dsp:txXfrm>
    </dsp:sp>
    <dsp:sp modelId="{75CC07CA-ADFD-4188-800F-E0E46DC27D0B}">
      <dsp:nvSpPr>
        <dsp:cNvPr id="0" name=""/>
        <dsp:cNvSpPr/>
      </dsp:nvSpPr>
      <dsp:spPr>
        <a:xfrm>
          <a:off x="4995354" y="130177"/>
          <a:ext cx="1248648" cy="499459"/>
        </a:xfrm>
        <a:prstGeom prst="chevron">
          <a:avLst/>
        </a:prstGeom>
        <a:solidFill>
          <a:srgbClr val="AF70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004" tIns="21336" rIns="10668" bIns="21336" numCol="1" spcCol="1270" anchor="ctr" anchorCtr="0">
          <a:noAutofit/>
        </a:bodyPr>
        <a:lstStyle/>
        <a:p>
          <a:pPr lvl="0" algn="ctr" defTabSz="355600">
            <a:lnSpc>
              <a:spcPct val="90000"/>
            </a:lnSpc>
            <a:spcBef>
              <a:spcPct val="0"/>
            </a:spcBef>
            <a:spcAft>
              <a:spcPct val="35000"/>
            </a:spcAft>
          </a:pPr>
          <a:r>
            <a:rPr lang="de-DE" sz="800" kern="1200" dirty="0"/>
            <a:t>Fahren …</a:t>
          </a:r>
        </a:p>
      </dsp:txBody>
      <dsp:txXfrm>
        <a:off x="5245084" y="130177"/>
        <a:ext cx="749189" cy="499459"/>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8.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9.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6F263B-1D8C-224B-A8D9-C23984E533A6}" type="slidenum">
              <a:rPr lang="de-DE" smtClean="0"/>
              <a:t>‹Nr.›</a:t>
            </a:fld>
            <a:endParaRPr lang="de-DE"/>
          </a:p>
        </p:txBody>
      </p:sp>
    </p:spTree>
    <p:extLst>
      <p:ext uri="{BB962C8B-B14F-4D97-AF65-F5344CB8AC3E}">
        <p14:creationId xmlns:p14="http://schemas.microsoft.com/office/powerpoint/2010/main" val="2075678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92B07F-8F9B-4148-89DC-6A2DF6C965F4}" type="datetimeFigureOut">
              <a:rPr lang="de-DE" smtClean="0"/>
              <a:t>05.03.2025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01F809-7105-3E49-8309-0F45E91F3F1F}" type="slidenum">
              <a:rPr lang="de-DE" smtClean="0"/>
              <a:t>‹Nr.›</a:t>
            </a:fld>
            <a:endParaRPr lang="de-DE"/>
          </a:p>
        </p:txBody>
      </p:sp>
    </p:spTree>
    <p:extLst>
      <p:ext uri="{BB962C8B-B14F-4D97-AF65-F5344CB8AC3E}">
        <p14:creationId xmlns:p14="http://schemas.microsoft.com/office/powerpoint/2010/main" val="966001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Redner: Janis</a:t>
            </a:r>
          </a:p>
        </p:txBody>
      </p:sp>
      <p:sp>
        <p:nvSpPr>
          <p:cNvPr id="4" name="Foliennummernplatzhalter 3"/>
          <p:cNvSpPr>
            <a:spLocks noGrp="1"/>
          </p:cNvSpPr>
          <p:nvPr>
            <p:ph type="sldNum" sz="quarter" idx="5"/>
          </p:nvPr>
        </p:nvSpPr>
        <p:spPr/>
        <p:txBody>
          <a:bodyPr/>
          <a:lstStyle/>
          <a:p>
            <a:fld id="{5C01F809-7105-3E49-8309-0F45E91F3F1F}" type="slidenum">
              <a:rPr lang="de-DE" smtClean="0"/>
              <a:t>2</a:t>
            </a:fld>
            <a:endParaRPr lang="de-DE"/>
          </a:p>
        </p:txBody>
      </p:sp>
    </p:spTree>
    <p:extLst>
      <p:ext uri="{BB962C8B-B14F-4D97-AF65-F5344CB8AC3E}">
        <p14:creationId xmlns:p14="http://schemas.microsoft.com/office/powerpoint/2010/main" val="663012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3</a:t>
            </a:fld>
            <a:endParaRPr lang="de-DE"/>
          </a:p>
        </p:txBody>
      </p:sp>
    </p:spTree>
    <p:extLst>
      <p:ext uri="{BB962C8B-B14F-4D97-AF65-F5344CB8AC3E}">
        <p14:creationId xmlns:p14="http://schemas.microsoft.com/office/powerpoint/2010/main" val="16028789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8A4D6E-B54C-0D11-6E02-F3762494AFF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xmlns="" id="{31EBF9E0-C850-4923-866D-C67DC9AAA4F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xmlns="" id="{32D45DBE-9505-419D-962A-A15BF47F587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Niklas</a:t>
            </a:r>
          </a:p>
          <a:p>
            <a:endParaRPr lang="de-DE" dirty="0"/>
          </a:p>
          <a:p>
            <a:endParaRPr lang="de-DE" dirty="0"/>
          </a:p>
          <a:p>
            <a:r>
              <a:rPr lang="de-DE" dirty="0"/>
              <a:t>Kameramatrix hat Brennweiten in x und y Richtung und Hauptpunkt der Kamera.</a:t>
            </a:r>
          </a:p>
          <a:p>
            <a:pPr>
              <a:buNone/>
            </a:pPr>
            <a:r>
              <a:rPr lang="de-DE" b="1" dirty="0"/>
              <a:t>Brennweite</a:t>
            </a:r>
            <a:r>
              <a:rPr lang="de-DE" dirty="0"/>
              <a:t>: gibt an, wie stark die Kamera Lichtstrahlen auf den Bildsensor fokussiert.</a:t>
            </a:r>
          </a:p>
          <a:p>
            <a:pPr>
              <a:buFont typeface="Arial" panose="020B0604020202020204" pitchFamily="34" charset="0"/>
              <a:buChar char="•"/>
            </a:pPr>
            <a:r>
              <a:rPr lang="de-DE" dirty="0"/>
              <a:t> Sie hängen </a:t>
            </a:r>
            <a:r>
              <a:rPr lang="de-DE" b="0" dirty="0"/>
              <a:t>von der tatsächlichen Brennweite der Linse und der Sensorauflösung ab.</a:t>
            </a:r>
          </a:p>
          <a:p>
            <a:pPr>
              <a:buFont typeface="Arial" panose="020B0604020202020204" pitchFamily="34" charset="0"/>
              <a:buChar char="•"/>
            </a:pPr>
            <a:r>
              <a:rPr lang="de-DE" b="0" dirty="0"/>
              <a:t> Die Werte werden in Pixeln angegeben, weil digitale Kameras keinen direkten Bezug zur realen Brennweite haben – die Pixeldichte spielt eine Rolle.</a:t>
            </a:r>
          </a:p>
          <a:p>
            <a:pPr>
              <a:buFont typeface="Arial" panose="020B0604020202020204" pitchFamily="34" charset="0"/>
              <a:buChar char="•"/>
            </a:pPr>
            <a:r>
              <a:rPr lang="de-DE" b="0" dirty="0"/>
              <a:t> In der Kamera-Matrix erscheinen sie als Skalierungsfaktoren für die x- und y-Richtung.</a:t>
            </a:r>
            <a:endParaRPr lang="de-DE" dirty="0"/>
          </a:p>
          <a:p>
            <a:r>
              <a:rPr lang="de-DE" b="1" dirty="0"/>
              <a:t>Hauptpunkt</a:t>
            </a:r>
            <a:r>
              <a:rPr lang="de-DE" b="0" dirty="0"/>
              <a:t>: Der Hauptpunkt ist der Punkt, an dem die optische Achse der Kamera den Sensor trifft. In einer idealen Kamera wäre dies genau in der Bildmitte. Durch Linsenfehler oder Montagetoleranzen kann der Hauptpunkt jedoch leicht verschoben sein.</a:t>
            </a:r>
          </a:p>
          <a:p>
            <a:endParaRPr lang="de-DE" dirty="0"/>
          </a:p>
          <a:p>
            <a:r>
              <a:rPr lang="de-DE" dirty="0"/>
              <a:t>Verzerrungskoeffizienten sind Werte für die radiale und tangentiale Verzerrung.</a:t>
            </a:r>
          </a:p>
          <a:p>
            <a:endParaRPr lang="de-DE" dirty="0"/>
          </a:p>
          <a:p>
            <a:r>
              <a:rPr lang="de-DE" dirty="0"/>
              <a:t>Transformationsmatrix ist Einheitsmatrix, da das Koordinatensystem richtig ist. (Braucht man bei Stereokameras)</a:t>
            </a:r>
          </a:p>
        </p:txBody>
      </p:sp>
      <p:sp>
        <p:nvSpPr>
          <p:cNvPr id="4" name="Foliennummernplatzhalter 3">
            <a:extLst>
              <a:ext uri="{FF2B5EF4-FFF2-40B4-BE49-F238E27FC236}">
                <a16:creationId xmlns:a16="http://schemas.microsoft.com/office/drawing/2014/main" xmlns="" id="{F936321E-82BF-6AE4-FA3E-381C07B70BE5}"/>
              </a:ext>
            </a:extLst>
          </p:cNvPr>
          <p:cNvSpPr>
            <a:spLocks noGrp="1"/>
          </p:cNvSpPr>
          <p:nvPr>
            <p:ph type="sldNum" sz="quarter" idx="5"/>
          </p:nvPr>
        </p:nvSpPr>
        <p:spPr/>
        <p:txBody>
          <a:bodyPr/>
          <a:lstStyle/>
          <a:p>
            <a:fld id="{5C01F809-7105-3E49-8309-0F45E91F3F1F}" type="slidenum">
              <a:rPr lang="de-DE" smtClean="0"/>
              <a:t>4</a:t>
            </a:fld>
            <a:endParaRPr lang="de-DE"/>
          </a:p>
        </p:txBody>
      </p:sp>
    </p:spTree>
    <p:extLst>
      <p:ext uri="{BB962C8B-B14F-4D97-AF65-F5344CB8AC3E}">
        <p14:creationId xmlns:p14="http://schemas.microsoft.com/office/powerpoint/2010/main" val="26021117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Redner: Niklas</a:t>
            </a:r>
            <a:endParaRPr lang="de-DE" i="1" dirty="0"/>
          </a:p>
          <a:p>
            <a:endParaRPr lang="de-DE" i="1" dirty="0"/>
          </a:p>
          <a:p>
            <a:r>
              <a:rPr lang="de-DE" i="1" dirty="0" err="1"/>
              <a:t>initUndistortRectifyMap</a:t>
            </a:r>
            <a:r>
              <a:rPr lang="de-DE" i="1" dirty="0"/>
              <a:t>() </a:t>
            </a:r>
            <a:r>
              <a:rPr lang="de-DE" b="0" dirty="0"/>
              <a:t>-&gt; Anhand der intrinsischen Kameraparameter und der Verzerrungskoeffizienten wird berechnet, wie sich jeder Pixel im korrigierten Bild auf das Originalbild abbildet. Ausgabe in zwei Mapping-Tabellen</a:t>
            </a:r>
          </a:p>
          <a:p>
            <a:endParaRPr lang="de-DE" dirty="0"/>
          </a:p>
          <a:p>
            <a:r>
              <a:rPr lang="de-DE" b="0" i="1" dirty="0" err="1"/>
              <a:t>Remap</a:t>
            </a:r>
            <a:r>
              <a:rPr lang="de-DE" b="0" i="1" dirty="0"/>
              <a:t>() </a:t>
            </a:r>
            <a:r>
              <a:rPr lang="de-DE" b="0" dirty="0"/>
              <a:t>-&gt; transformiert ein Bild, indem sie für jeden Pixel im Zielbild eine neue Position aus dem Quellbild berechnet</a:t>
            </a:r>
          </a:p>
        </p:txBody>
      </p:sp>
      <p:sp>
        <p:nvSpPr>
          <p:cNvPr id="4" name="Foliennummernplatzhalter 3"/>
          <p:cNvSpPr>
            <a:spLocks noGrp="1"/>
          </p:cNvSpPr>
          <p:nvPr>
            <p:ph type="sldNum" sz="quarter" idx="5"/>
          </p:nvPr>
        </p:nvSpPr>
        <p:spPr/>
        <p:txBody>
          <a:bodyPr/>
          <a:lstStyle/>
          <a:p>
            <a:fld id="{5C01F809-7105-3E49-8309-0F45E91F3F1F}" type="slidenum">
              <a:rPr lang="de-DE" smtClean="0"/>
              <a:t>5</a:t>
            </a:fld>
            <a:endParaRPr lang="de-DE"/>
          </a:p>
        </p:txBody>
      </p:sp>
    </p:spTree>
    <p:extLst>
      <p:ext uri="{BB962C8B-B14F-4D97-AF65-F5344CB8AC3E}">
        <p14:creationId xmlns:p14="http://schemas.microsoft.com/office/powerpoint/2010/main" val="29528535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6</a:t>
            </a:fld>
            <a:endParaRPr lang="de-DE"/>
          </a:p>
        </p:txBody>
      </p:sp>
    </p:spTree>
    <p:extLst>
      <p:ext uri="{BB962C8B-B14F-4D97-AF65-F5344CB8AC3E}">
        <p14:creationId xmlns:p14="http://schemas.microsoft.com/office/powerpoint/2010/main" val="17243630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dirty="0"/>
          </a:p>
          <a:p>
            <a:endParaRPr lang="de-DE" dirty="0"/>
          </a:p>
          <a:p>
            <a:r>
              <a:rPr lang="de-DE" dirty="0"/>
              <a:t>Erkennung mit </a:t>
            </a:r>
            <a:r>
              <a:rPr lang="de-DE" dirty="0" err="1"/>
              <a:t>findChessboardCorners</a:t>
            </a:r>
            <a:r>
              <a:rPr lang="de-DE" dirty="0"/>
              <a:t>() -&gt; Erkennt die inneren Ecken des Schachbrettes</a:t>
            </a:r>
          </a:p>
          <a:p>
            <a:endParaRPr lang="de-DE" dirty="0"/>
          </a:p>
          <a:p>
            <a:r>
              <a:rPr lang="de-DE" dirty="0"/>
              <a:t>Äußeren vier Punkte sind die Bildpunkte.</a:t>
            </a:r>
          </a:p>
          <a:p>
            <a:endParaRPr lang="de-DE" dirty="0"/>
          </a:p>
          <a:p>
            <a:r>
              <a:rPr lang="de-DE" dirty="0"/>
              <a:t>Die Objektpunkte sind die Punkte, wo es hingezogen werden soll. Werden gewählt.</a:t>
            </a:r>
          </a:p>
          <a:p>
            <a:endParaRPr lang="de-DE" dirty="0"/>
          </a:p>
          <a:p>
            <a:r>
              <a:rPr lang="de-DE" i="1" dirty="0" err="1"/>
              <a:t>getPerspectiveTransform</a:t>
            </a:r>
            <a:r>
              <a:rPr lang="de-DE" i="1" dirty="0"/>
              <a:t>() </a:t>
            </a:r>
            <a:r>
              <a:rPr lang="de-DE" i="0" dirty="0"/>
              <a:t>-&gt; erstellt eine 3x3 Matrix, mit der jeder Punkt im Originalbild auf das transformierte umgerechnet werden kann</a:t>
            </a:r>
          </a:p>
          <a:p>
            <a:endParaRPr lang="de-DE" i="0" dirty="0"/>
          </a:p>
          <a:p>
            <a:r>
              <a:rPr lang="de-DE" i="1" dirty="0" err="1"/>
              <a:t>warpPerspective</a:t>
            </a:r>
            <a:r>
              <a:rPr lang="de-DE" i="1" dirty="0"/>
              <a:t>() </a:t>
            </a:r>
            <a:r>
              <a:rPr lang="de-DE" i="0" dirty="0"/>
              <a:t>-&gt; jeder Punkt wird mit der </a:t>
            </a:r>
            <a:r>
              <a:rPr lang="de-DE" i="0" dirty="0" err="1"/>
              <a:t>Homographiematrix</a:t>
            </a:r>
            <a:r>
              <a:rPr lang="de-DE" i="0" dirty="0"/>
              <a:t> multipliziert und anschließend normalisiert (x, y ,1) * H = (x‘, y‘, w‘) -&gt; x=x‘/w‘ y=y‘/w‘</a:t>
            </a:r>
          </a:p>
        </p:txBody>
      </p:sp>
      <p:sp>
        <p:nvSpPr>
          <p:cNvPr id="4" name="Foliennummernplatzhalter 3"/>
          <p:cNvSpPr>
            <a:spLocks noGrp="1"/>
          </p:cNvSpPr>
          <p:nvPr>
            <p:ph type="sldNum" sz="quarter" idx="5"/>
          </p:nvPr>
        </p:nvSpPr>
        <p:spPr/>
        <p:txBody>
          <a:bodyPr/>
          <a:lstStyle/>
          <a:p>
            <a:fld id="{5C01F809-7105-3E49-8309-0F45E91F3F1F}" type="slidenum">
              <a:rPr lang="de-DE" smtClean="0"/>
              <a:t>7</a:t>
            </a:fld>
            <a:endParaRPr lang="de-DE"/>
          </a:p>
        </p:txBody>
      </p:sp>
    </p:spTree>
    <p:extLst>
      <p:ext uri="{BB962C8B-B14F-4D97-AF65-F5344CB8AC3E}">
        <p14:creationId xmlns:p14="http://schemas.microsoft.com/office/powerpoint/2010/main" val="30912432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8</a:t>
            </a:fld>
            <a:endParaRPr lang="de-DE"/>
          </a:p>
        </p:txBody>
      </p:sp>
    </p:spTree>
    <p:extLst>
      <p:ext uri="{BB962C8B-B14F-4D97-AF65-F5344CB8AC3E}">
        <p14:creationId xmlns:p14="http://schemas.microsoft.com/office/powerpoint/2010/main" val="37546422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indent="0">
              <a:buNone/>
            </a:pPr>
            <a:r>
              <a:rPr lang="de-DE" b="1" dirty="0"/>
              <a:t>Redner: Niklas</a:t>
            </a:r>
            <a:endParaRPr lang="de-DE" dirty="0"/>
          </a:p>
          <a:p>
            <a:pPr marL="0" indent="0">
              <a:buNone/>
            </a:pPr>
            <a:endParaRPr lang="de-DE" dirty="0"/>
          </a:p>
          <a:p>
            <a:pPr marL="0" indent="0">
              <a:buNone/>
            </a:pPr>
            <a:r>
              <a:rPr lang="de-DE" dirty="0"/>
              <a:t>1. X und y Wert des Punktes und Höhe der Kamera und 1.0 (homogen) ist die Matrize in 4D [x, y, z, 1.0]</a:t>
            </a:r>
          </a:p>
          <a:p>
            <a:pPr marL="228600" indent="-228600">
              <a:buAutoNum type="arabicPeriod"/>
            </a:pPr>
            <a:endParaRPr lang="de-DE" dirty="0"/>
          </a:p>
          <a:p>
            <a:r>
              <a:rPr lang="de-DE" dirty="0"/>
              <a:t>2. Mit Transformationsmatrix multiplizieren um in gleichem Koordinatensystem wie Kamera zu sein [x‘, y‘, z‘, 1.0]</a:t>
            </a:r>
          </a:p>
          <a:p>
            <a:r>
              <a:rPr lang="de-DE" dirty="0"/>
              <a:t>T= Rotationsmatrix und Translationsvektor -&gt; </a:t>
            </a:r>
          </a:p>
          <a:p>
            <a:r>
              <a:rPr lang="de-DE" dirty="0"/>
              <a:t>erste Zeile y-Achse der Kamera entgegen der Richtung der x-Achse des </a:t>
            </a:r>
            <a:r>
              <a:rPr lang="de-DE" dirty="0" err="1"/>
              <a:t>LiDARs</a:t>
            </a:r>
            <a:endParaRPr lang="de-DE" dirty="0"/>
          </a:p>
          <a:p>
            <a:r>
              <a:rPr lang="de-DE" dirty="0"/>
              <a:t>zweite Zeile z-Achse der Kamera entgegen der Richtung der y-Achse des </a:t>
            </a:r>
            <a:r>
              <a:rPr lang="de-DE" dirty="0" err="1"/>
              <a:t>LiDARs</a:t>
            </a:r>
            <a:r>
              <a:rPr lang="de-DE" dirty="0"/>
              <a:t> </a:t>
            </a:r>
          </a:p>
          <a:p>
            <a:r>
              <a:rPr lang="de-DE" dirty="0"/>
              <a:t>dritte Zeile x-Achse der Kamera in Richtung der z-Achse des </a:t>
            </a:r>
            <a:r>
              <a:rPr lang="de-DE" dirty="0" err="1"/>
              <a:t>LiDARs</a:t>
            </a:r>
            <a:r>
              <a:rPr lang="de-DE" dirty="0"/>
              <a:t> </a:t>
            </a:r>
          </a:p>
          <a:p>
            <a:r>
              <a:rPr lang="de-DE" dirty="0"/>
              <a:t>Dementsprechend ist das LiDAR um -90° um die x-Achse</a:t>
            </a:r>
          </a:p>
          <a:p>
            <a:r>
              <a:rPr lang="de-DE" dirty="0"/>
              <a:t>und um -90° um die z-Achse der Kamera gedreht</a:t>
            </a:r>
          </a:p>
          <a:p>
            <a:endParaRPr lang="de-DE" dirty="0"/>
          </a:p>
          <a:p>
            <a:endParaRPr lang="de-DE" dirty="0"/>
          </a:p>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3. Letzte Koordinate entfernen damit nur die Koordinaten übrig bleiben [x‘, y‘, z‘]</a:t>
            </a:r>
          </a:p>
          <a:p>
            <a:endParaRPr lang="de-DE" dirty="0"/>
          </a:p>
          <a:p>
            <a:r>
              <a:rPr lang="de-DE" dirty="0"/>
              <a:t>4. Die Koordinaten mit Kameramatrix multiplizieren (</a:t>
            </a:r>
            <a:r>
              <a:rPr lang="de-DE" b="0" dirty="0"/>
              <a:t>Kameramatrix</a:t>
            </a:r>
            <a:r>
              <a:rPr lang="de-DE" dirty="0"/>
              <a:t> projiziert den 3D-Punkt ins Bild) -&gt; [u‘, v‘, w‘]</a:t>
            </a:r>
          </a:p>
          <a:p>
            <a:endParaRPr lang="de-DE" dirty="0"/>
          </a:p>
          <a:p>
            <a:r>
              <a:rPr lang="de-DE" dirty="0"/>
              <a:t>5. homogene Koordinate muss </a:t>
            </a:r>
            <a:r>
              <a:rPr lang="de-DE" b="1" dirty="0"/>
              <a:t>normalisiert</a:t>
            </a:r>
            <a:r>
              <a:rPr lang="de-DE" dirty="0"/>
              <a:t> werden, damit normale Pixelkoordinaten entstehen -&gt; u=u‘/w‘ und v=v‘/w‘</a:t>
            </a:r>
          </a:p>
          <a:p>
            <a:endParaRPr lang="de-DE" dirty="0"/>
          </a:p>
          <a:p>
            <a:r>
              <a:rPr lang="de-DE" dirty="0"/>
              <a:t>6. Multiplikation mit </a:t>
            </a:r>
            <a:r>
              <a:rPr lang="de-DE" dirty="0" err="1"/>
              <a:t>Homographiematrix</a:t>
            </a:r>
            <a:r>
              <a:rPr lang="de-DE" dirty="0"/>
              <a:t>, damit die Punkte in der </a:t>
            </a:r>
            <a:r>
              <a:rPr lang="de-DE" dirty="0" err="1"/>
              <a:t>Birds‘s</a:t>
            </a:r>
            <a:r>
              <a:rPr lang="de-DE" dirty="0"/>
              <a:t> Eye View richtig sind</a:t>
            </a:r>
          </a:p>
          <a:p>
            <a:endParaRPr lang="de-DE" dirty="0"/>
          </a:p>
          <a:p>
            <a:r>
              <a:rPr lang="de-DE" dirty="0"/>
              <a:t>7. Normalisieren der Punkte</a:t>
            </a:r>
          </a:p>
          <a:p>
            <a:endParaRPr lang="de-DE" dirty="0"/>
          </a:p>
          <a:p>
            <a:r>
              <a:rPr lang="de-DE" dirty="0"/>
              <a:t>8. Einzeichnen</a:t>
            </a:r>
          </a:p>
        </p:txBody>
      </p:sp>
      <p:sp>
        <p:nvSpPr>
          <p:cNvPr id="4" name="Foliennummernplatzhalter 3"/>
          <p:cNvSpPr>
            <a:spLocks noGrp="1"/>
          </p:cNvSpPr>
          <p:nvPr>
            <p:ph type="sldNum" sz="quarter" idx="5"/>
          </p:nvPr>
        </p:nvSpPr>
        <p:spPr/>
        <p:txBody>
          <a:bodyPr/>
          <a:lstStyle/>
          <a:p>
            <a:fld id="{5C01F809-7105-3E49-8309-0F45E91F3F1F}" type="slidenum">
              <a:rPr lang="de-DE" smtClean="0"/>
              <a:t>9</a:t>
            </a:fld>
            <a:endParaRPr lang="de-DE"/>
          </a:p>
        </p:txBody>
      </p:sp>
    </p:spTree>
    <p:extLst>
      <p:ext uri="{BB962C8B-B14F-4D97-AF65-F5344CB8AC3E}">
        <p14:creationId xmlns:p14="http://schemas.microsoft.com/office/powerpoint/2010/main" val="4105455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Redner: Niklas</a:t>
            </a:r>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10</a:t>
            </a:fld>
            <a:endParaRPr lang="de-DE"/>
          </a:p>
        </p:txBody>
      </p:sp>
    </p:spTree>
    <p:extLst>
      <p:ext uri="{BB962C8B-B14F-4D97-AF65-F5344CB8AC3E}">
        <p14:creationId xmlns:p14="http://schemas.microsoft.com/office/powerpoint/2010/main" val="2117288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b="0" i="1" dirty="0"/>
          </a:p>
          <a:p>
            <a:r>
              <a:rPr lang="de-DE" dirty="0" err="1" smtClean="0"/>
              <a:t>Hue</a:t>
            </a:r>
            <a:r>
              <a:rPr lang="de-DE" dirty="0" smtClean="0"/>
              <a:t> (Farbton), Saturation (Sättigung) und Value (Helligkeit</a:t>
            </a:r>
            <a:endParaRPr lang="de-DE" b="0" i="1" dirty="0"/>
          </a:p>
          <a:p>
            <a:r>
              <a:rPr lang="de-DE" b="0" i="1" dirty="0" err="1"/>
              <a:t>inRange</a:t>
            </a:r>
            <a:r>
              <a:rPr lang="de-DE" b="0" i="1" dirty="0"/>
              <a:t>() </a:t>
            </a:r>
            <a:r>
              <a:rPr lang="de-DE" b="0" i="0" dirty="0"/>
              <a:t>-&gt; </a:t>
            </a:r>
            <a:r>
              <a:rPr lang="de-DE" b="0" dirty="0"/>
              <a:t>erstellt eine binäre Maske, indem sie prüft, ob die Pixelwerte eines Bildes innerhalb eines bestimmten Wertebereichs liegen</a:t>
            </a:r>
            <a:endParaRPr lang="de-DE" b="0" i="0" dirty="0"/>
          </a:p>
          <a:p>
            <a:endParaRPr lang="de-DE" i="0" dirty="0"/>
          </a:p>
          <a:p>
            <a:pPr marL="0" marR="0" lvl="0" indent="0" algn="l" defTabSz="914400" rtl="0" eaLnBrk="1" fontAlgn="auto" latinLnBrk="0" hangingPunct="1">
              <a:lnSpc>
                <a:spcPct val="100000"/>
              </a:lnSpc>
              <a:spcBef>
                <a:spcPts val="0"/>
              </a:spcBef>
              <a:spcAft>
                <a:spcPts val="0"/>
              </a:spcAft>
              <a:buClrTx/>
              <a:buSzTx/>
              <a:buFontTx/>
              <a:buNone/>
              <a:tabLst/>
              <a:defRPr/>
            </a:pPr>
            <a:r>
              <a:rPr lang="de-DE" b="0" i="1" dirty="0" err="1"/>
              <a:t>morphologyEx</a:t>
            </a:r>
            <a:r>
              <a:rPr lang="de-DE" b="0" i="1" dirty="0"/>
              <a:t>() </a:t>
            </a:r>
            <a:r>
              <a:rPr lang="de-DE" b="0" i="0" dirty="0"/>
              <a:t>-&gt; </a:t>
            </a:r>
            <a:r>
              <a:rPr lang="de-DE" b="0" dirty="0"/>
              <a:t>führt morphologische Operationen auf einem binären Bild aus. Diese Operationen werden verwendet, um Rauschen zu entfernen, Kanten zu glätten oder Strukturen im Bild hervorzuheben.</a:t>
            </a:r>
            <a:endParaRPr lang="de-DE" b="0" i="0" dirty="0"/>
          </a:p>
          <a:p>
            <a:r>
              <a:rPr lang="de-DE" i="0" dirty="0" err="1"/>
              <a:t>Morph_Open</a:t>
            </a:r>
            <a:r>
              <a:rPr lang="de-DE" i="0" dirty="0"/>
              <a:t>: </a:t>
            </a:r>
            <a:r>
              <a:rPr lang="de-DE" dirty="0"/>
              <a:t>Entfernt kleine Störungen (Erosion gefolgt von Dilatation)</a:t>
            </a:r>
            <a:endParaRPr lang="de-DE" i="0" dirty="0"/>
          </a:p>
          <a:p>
            <a:r>
              <a:rPr lang="de-DE" i="0" dirty="0" err="1"/>
              <a:t>Morph_Close</a:t>
            </a:r>
            <a:r>
              <a:rPr lang="de-DE" i="0" dirty="0"/>
              <a:t>: </a:t>
            </a:r>
            <a:r>
              <a:rPr lang="de-DE" dirty="0"/>
              <a:t>Schließt kleine Lücken (Dilatation gefolgt von Erosion)</a:t>
            </a:r>
            <a:endParaRPr lang="de-DE" i="0" dirty="0"/>
          </a:p>
          <a:p>
            <a:endParaRPr lang="de-DE" i="0" dirty="0"/>
          </a:p>
          <a:p>
            <a:endParaRPr lang="de-DE" i="0" dirty="0"/>
          </a:p>
          <a:p>
            <a:pPr marL="0" marR="0" lvl="0" indent="0" algn="l" defTabSz="914400" rtl="0" eaLnBrk="1" fontAlgn="auto" latinLnBrk="0" hangingPunct="1">
              <a:lnSpc>
                <a:spcPct val="100000"/>
              </a:lnSpc>
              <a:spcBef>
                <a:spcPts val="0"/>
              </a:spcBef>
              <a:spcAft>
                <a:spcPts val="0"/>
              </a:spcAft>
              <a:buClrTx/>
              <a:buSzTx/>
              <a:buFontTx/>
              <a:buNone/>
              <a:tabLst/>
              <a:defRPr/>
            </a:pPr>
            <a:r>
              <a:rPr lang="de-DE" b="0" i="1" dirty="0" err="1"/>
              <a:t>findContours</a:t>
            </a:r>
            <a:r>
              <a:rPr lang="de-DE" b="0" i="1" dirty="0"/>
              <a:t>() </a:t>
            </a:r>
            <a:r>
              <a:rPr lang="de-DE" b="0" i="0" dirty="0"/>
              <a:t>-&gt; </a:t>
            </a:r>
            <a:r>
              <a:rPr lang="de-DE" b="0" dirty="0"/>
              <a:t>findet Konturen (Umrisse von Objekten) in einem binären Bild.</a:t>
            </a:r>
            <a:endParaRPr lang="de-DE" b="0" i="0" dirty="0"/>
          </a:p>
          <a:p>
            <a:endParaRPr lang="de-DE" i="0" dirty="0"/>
          </a:p>
        </p:txBody>
      </p:sp>
      <p:sp>
        <p:nvSpPr>
          <p:cNvPr id="4" name="Foliennummernplatzhalter 3"/>
          <p:cNvSpPr>
            <a:spLocks noGrp="1"/>
          </p:cNvSpPr>
          <p:nvPr>
            <p:ph type="sldNum" sz="quarter" idx="5"/>
          </p:nvPr>
        </p:nvSpPr>
        <p:spPr/>
        <p:txBody>
          <a:bodyPr/>
          <a:lstStyle/>
          <a:p>
            <a:fld id="{5C01F809-7105-3E49-8309-0F45E91F3F1F}" type="slidenum">
              <a:rPr lang="de-DE" smtClean="0"/>
              <a:t>11</a:t>
            </a:fld>
            <a:endParaRPr lang="de-DE"/>
          </a:p>
        </p:txBody>
      </p:sp>
    </p:spTree>
    <p:extLst>
      <p:ext uri="{BB962C8B-B14F-4D97-AF65-F5344CB8AC3E}">
        <p14:creationId xmlns:p14="http://schemas.microsoft.com/office/powerpoint/2010/main" val="2048258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12</a:t>
            </a:fld>
            <a:endParaRPr lang="de-DE"/>
          </a:p>
        </p:txBody>
      </p:sp>
    </p:spTree>
    <p:extLst>
      <p:ext uri="{BB962C8B-B14F-4D97-AF65-F5344CB8AC3E}">
        <p14:creationId xmlns:p14="http://schemas.microsoft.com/office/powerpoint/2010/main" val="22249254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Redner: Janis</a:t>
            </a:r>
          </a:p>
          <a:p>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13</a:t>
            </a:fld>
            <a:endParaRPr lang="de-DE"/>
          </a:p>
        </p:txBody>
      </p:sp>
    </p:spTree>
    <p:extLst>
      <p:ext uri="{BB962C8B-B14F-4D97-AF65-F5344CB8AC3E}">
        <p14:creationId xmlns:p14="http://schemas.microsoft.com/office/powerpoint/2010/main" val="23843496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Redner: Niklas</a:t>
            </a:r>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14</a:t>
            </a:fld>
            <a:endParaRPr lang="de-DE"/>
          </a:p>
        </p:txBody>
      </p:sp>
    </p:spTree>
    <p:extLst>
      <p:ext uri="{BB962C8B-B14F-4D97-AF65-F5344CB8AC3E}">
        <p14:creationId xmlns:p14="http://schemas.microsoft.com/office/powerpoint/2010/main" val="34103999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Redner: Niklas</a:t>
            </a:r>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15</a:t>
            </a:fld>
            <a:endParaRPr lang="de-DE"/>
          </a:p>
        </p:txBody>
      </p:sp>
    </p:spTree>
    <p:extLst>
      <p:ext uri="{BB962C8B-B14F-4D97-AF65-F5344CB8AC3E}">
        <p14:creationId xmlns:p14="http://schemas.microsoft.com/office/powerpoint/2010/main" val="1835462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Redner: Niklas</a:t>
            </a:r>
            <a:endParaRPr lang="de-DE" dirty="0"/>
          </a:p>
        </p:txBody>
      </p:sp>
      <p:sp>
        <p:nvSpPr>
          <p:cNvPr id="4" name="Foliennummernplatzhalter 3"/>
          <p:cNvSpPr>
            <a:spLocks noGrp="1"/>
          </p:cNvSpPr>
          <p:nvPr>
            <p:ph type="sldNum" sz="quarter" idx="5"/>
          </p:nvPr>
        </p:nvSpPr>
        <p:spPr/>
        <p:txBody>
          <a:bodyPr/>
          <a:lstStyle/>
          <a:p>
            <a:fld id="{5C01F809-7105-3E49-8309-0F45E91F3F1F}" type="slidenum">
              <a:rPr lang="de-DE" smtClean="0"/>
              <a:t>16</a:t>
            </a:fld>
            <a:endParaRPr lang="de-DE"/>
          </a:p>
        </p:txBody>
      </p:sp>
    </p:spTree>
    <p:extLst>
      <p:ext uri="{BB962C8B-B14F-4D97-AF65-F5344CB8AC3E}">
        <p14:creationId xmlns:p14="http://schemas.microsoft.com/office/powerpoint/2010/main" val="17015102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HAWK Schmucktitel 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HAWK Schmucktitel E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29565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Schmucktitel Fakultät DE">
    <p:spTree>
      <p:nvGrpSpPr>
        <p:cNvPr id="1" name=""/>
        <p:cNvGrpSpPr/>
        <p:nvPr/>
      </p:nvGrpSpPr>
      <p:grpSpPr>
        <a:xfrm>
          <a:off x="0" y="0"/>
          <a:ext cx="0" cy="0"/>
          <a:chOff x="0" y="0"/>
          <a:chExt cx="0" cy="0"/>
        </a:xfrm>
      </p:grpSpPr>
      <p:sp>
        <p:nvSpPr>
          <p:cNvPr id="3" name="Titelplatzhalter 1"/>
          <p:cNvSpPr>
            <a:spLocks noGrp="1"/>
          </p:cNvSpPr>
          <p:nvPr>
            <p:ph type="title" hasCustomPrompt="1"/>
          </p:nvPr>
        </p:nvSpPr>
        <p:spPr>
          <a:xfrm>
            <a:off x="1163638" y="4804078"/>
            <a:ext cx="9864725" cy="648301"/>
          </a:xfrm>
          <a:prstGeom prst="rect">
            <a:avLst/>
          </a:prstGeom>
        </p:spPr>
        <p:txBody>
          <a:bodyPr vert="horz" lIns="0" tIns="0" rIns="0" bIns="0" rtlCol="0" anchor="b" anchorCtr="0">
            <a:noAutofit/>
          </a:bodyPr>
          <a:lstStyle/>
          <a:p>
            <a:r>
              <a:rPr lang="de-DE" dirty="0"/>
              <a:t>Headline 1 Calibri </a:t>
            </a:r>
            <a:r>
              <a:rPr lang="de-DE" dirty="0" err="1"/>
              <a:t>Bold</a:t>
            </a:r>
            <a:r>
              <a:rPr lang="de-DE" dirty="0"/>
              <a:t> 36 p</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Schmucktitel Fakultät E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elplatzhalter 1"/>
          <p:cNvSpPr>
            <a:spLocks noGrp="1"/>
          </p:cNvSpPr>
          <p:nvPr>
            <p:ph type="title" hasCustomPrompt="1"/>
          </p:nvPr>
        </p:nvSpPr>
        <p:spPr>
          <a:xfrm>
            <a:off x="1163638" y="4804078"/>
            <a:ext cx="9864725" cy="648301"/>
          </a:xfrm>
          <a:prstGeom prst="rect">
            <a:avLst/>
          </a:prstGeom>
        </p:spPr>
        <p:txBody>
          <a:bodyPr vert="horz" lIns="0" tIns="0" rIns="0" bIns="0" rtlCol="0" anchor="b" anchorCtr="0">
            <a:noAutofit/>
          </a:bodyPr>
          <a:lstStyle/>
          <a:p>
            <a:r>
              <a:rPr lang="de-DE" dirty="0"/>
              <a:t>Headline 1 Calibri </a:t>
            </a:r>
            <a:r>
              <a:rPr lang="de-DE" dirty="0" err="1"/>
              <a:t>Bold</a:t>
            </a:r>
            <a:r>
              <a:rPr lang="de-DE" dirty="0"/>
              <a:t> 36 p</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Titel DE">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1163639" y="1881189"/>
            <a:ext cx="9864724" cy="3348037"/>
          </a:xfrm>
        </p:spPr>
        <p:txBody>
          <a:bodyPr>
            <a:noAutofit/>
          </a:bodyPr>
          <a:lstStyle>
            <a:lvl4pPr>
              <a:defRPr baseline="0"/>
            </a:lvl4pPr>
          </a:lstStyle>
          <a:p>
            <a:pPr lvl="0"/>
            <a:r>
              <a:rPr lang="de-DE" dirty="0"/>
              <a:t>Headline 1 in Calibri </a:t>
            </a:r>
            <a:r>
              <a:rPr lang="de-DE" dirty="0" err="1"/>
              <a:t>Bold</a:t>
            </a:r>
            <a:r>
              <a:rPr lang="de-DE" dirty="0"/>
              <a:t> mit 36 p und </a:t>
            </a:r>
            <a:br>
              <a:rPr lang="de-DE" dirty="0"/>
            </a:br>
            <a:r>
              <a:rPr lang="de-DE" dirty="0"/>
              <a:t>38 p Zeilenabstand</a:t>
            </a:r>
          </a:p>
          <a:p>
            <a:pPr lvl="1"/>
            <a:r>
              <a:rPr lang="de-DE" dirty="0"/>
              <a:t/>
            </a:r>
            <a:br>
              <a:rPr lang="de-DE" dirty="0"/>
            </a:br>
            <a:r>
              <a:rPr lang="de-DE" dirty="0"/>
              <a:t>Headline 2 in Calibri </a:t>
            </a:r>
            <a:r>
              <a:rPr lang="de-DE" dirty="0" err="1"/>
              <a:t>Bold</a:t>
            </a:r>
            <a:r>
              <a:rPr lang="de-DE" dirty="0"/>
              <a:t> mit 24 p</a:t>
            </a:r>
            <a:br>
              <a:rPr lang="de-DE" dirty="0"/>
            </a:br>
            <a:r>
              <a:rPr lang="de-DE" dirty="0"/>
              <a:t>und 26 p Zeilenabstand</a:t>
            </a:r>
          </a:p>
          <a:p>
            <a:pPr lvl="3"/>
            <a:endParaRPr lang="de-DE" dirty="0"/>
          </a:p>
          <a:p>
            <a:pPr lvl="3"/>
            <a:r>
              <a:rPr lang="de-DE" dirty="0"/>
              <a:t>Verfasser in Calibri Regular 18 p und 20 p Zeilenabstand</a:t>
            </a:r>
            <a:br>
              <a:rPr lang="de-DE" dirty="0"/>
            </a:br>
            <a:r>
              <a:rPr lang="de-DE" dirty="0"/>
              <a:t>00. Monat 2020</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Titel E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1163639" y="1881189"/>
            <a:ext cx="9864724" cy="3348037"/>
          </a:xfrm>
        </p:spPr>
        <p:txBody>
          <a:bodyPr>
            <a:noAutofit/>
          </a:bodyPr>
          <a:lstStyle>
            <a:lvl4pPr>
              <a:defRPr baseline="0"/>
            </a:lvl4pPr>
          </a:lstStyle>
          <a:p>
            <a:pPr lvl="0"/>
            <a:r>
              <a:rPr lang="de-DE" dirty="0"/>
              <a:t>Headline 1 in Calibri </a:t>
            </a:r>
            <a:r>
              <a:rPr lang="de-DE" dirty="0" err="1"/>
              <a:t>Bold</a:t>
            </a:r>
            <a:r>
              <a:rPr lang="de-DE" dirty="0"/>
              <a:t> mit 36 p und </a:t>
            </a:r>
            <a:br>
              <a:rPr lang="de-DE" dirty="0"/>
            </a:br>
            <a:r>
              <a:rPr lang="de-DE" dirty="0"/>
              <a:t>38 p Zeilenabstand</a:t>
            </a:r>
          </a:p>
          <a:p>
            <a:pPr lvl="1"/>
            <a:r>
              <a:rPr lang="de-DE" dirty="0"/>
              <a:t/>
            </a:r>
            <a:br>
              <a:rPr lang="de-DE" dirty="0"/>
            </a:br>
            <a:r>
              <a:rPr lang="de-DE" dirty="0"/>
              <a:t>Headline 2 in Calibri </a:t>
            </a:r>
            <a:r>
              <a:rPr lang="de-DE" dirty="0" err="1"/>
              <a:t>Bold</a:t>
            </a:r>
            <a:r>
              <a:rPr lang="de-DE" dirty="0"/>
              <a:t> mit 24 p</a:t>
            </a:r>
            <a:br>
              <a:rPr lang="de-DE" dirty="0"/>
            </a:br>
            <a:r>
              <a:rPr lang="de-DE" dirty="0"/>
              <a:t>und 26 p Zeilenabstand</a:t>
            </a:r>
          </a:p>
          <a:p>
            <a:pPr lvl="3"/>
            <a:endParaRPr lang="de-DE" dirty="0"/>
          </a:p>
          <a:p>
            <a:pPr lvl="3"/>
            <a:r>
              <a:rPr lang="de-DE" dirty="0"/>
              <a:t>Verfasser in Calibri Regular 18 p und 20 p Zeilenabstand</a:t>
            </a:r>
            <a:br>
              <a:rPr lang="de-DE" dirty="0"/>
            </a:br>
            <a:r>
              <a:rPr lang="de-DE" dirty="0"/>
              <a:t>00. Monat 2020</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1163637" y="1196976"/>
            <a:ext cx="9864725" cy="4932363"/>
          </a:xfrm>
        </p:spPr>
        <p:txBody>
          <a:bodyPr/>
          <a:lstStyle>
            <a:lvl1pPr>
              <a:defRPr baseline="0"/>
            </a:lvl1pPr>
            <a:lvl2pPr>
              <a:defRPr baseline="0"/>
            </a:lvl2pPr>
            <a:lvl3pPr marL="0" marR="0" indent="0" algn="l" defTabSz="914400" rtl="0" eaLnBrk="1" fontAlgn="auto" latinLnBrk="0" hangingPunct="1">
              <a:lnSpc>
                <a:spcPts val="2000"/>
              </a:lnSpc>
              <a:spcBef>
                <a:spcPts val="0"/>
              </a:spcBef>
              <a:spcAft>
                <a:spcPts val="0"/>
              </a:spcAft>
              <a:buClrTx/>
              <a:buSzTx/>
              <a:buFont typeface="Wingdings" charset="2"/>
              <a:buNone/>
              <a:tabLst/>
              <a:defRPr baseline="0"/>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2"/>
              </a:buBlip>
              <a:tabLst>
                <a:tab pos="173038" algn="l"/>
              </a:tabLst>
              <a:defRPr baseline="0"/>
            </a:lvl4pPr>
            <a:lvl5pPr marL="439200" indent="-216000">
              <a:tabLst/>
              <a:defRPr baseline="0"/>
            </a:lvl5pPr>
          </a:lstStyle>
          <a:p>
            <a:pPr lvl="0"/>
            <a:r>
              <a:rPr lang="de-DE" dirty="0"/>
              <a:t>Die Headline 2 ist in der Calibri </a:t>
            </a:r>
            <a:r>
              <a:rPr lang="de-DE" dirty="0" err="1"/>
              <a:t>Bold</a:t>
            </a:r>
            <a:r>
              <a:rPr lang="de-DE" dirty="0"/>
              <a:t> mit 24 p und mit einem Zeilenabstand von 26 p anzulegen</a:t>
            </a:r>
          </a:p>
          <a:p>
            <a:pPr lvl="1"/>
            <a:r>
              <a:rPr lang="de-DE" dirty="0"/>
              <a:t/>
            </a:r>
            <a:br>
              <a:rPr lang="de-DE" dirty="0"/>
            </a:br>
            <a:r>
              <a:rPr lang="de-DE" dirty="0"/>
              <a:t>Die Subheadline ist in der Calibri </a:t>
            </a:r>
            <a:r>
              <a:rPr lang="de-DE" dirty="0" err="1"/>
              <a:t>Bold</a:t>
            </a:r>
            <a:r>
              <a:rPr lang="de-DE" dirty="0"/>
              <a:t> mit 18 p und mit einem Zeilenabstand von 20 p anzulegen</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endParaRPr lang="de-DE" dirty="0"/>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r>
              <a:rPr lang="de-DE" dirty="0"/>
              <a:t>Der Fließtext ist in der Calibri Regular 18 p, 20 p Zeilenabstand angelegt.</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r>
              <a:rPr lang="de-DE" dirty="0"/>
              <a:t>Der Fließtext ist in der Calibri Regular 18 p, 20 p Zeilenabstand angelegt.</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r>
              <a:rPr lang="de-DE" dirty="0"/>
              <a:t>Der Fließtext ist in der Calibri Regular 18 p, 20 p Zeilenabstand angelegt.</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r>
              <a:rPr lang="de-DE" dirty="0"/>
              <a:t>Der Fließtext ist in der Calibri Regular 18 p, 20 p Zeilenabstand angelegt.</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r>
              <a:rPr lang="de-DE" dirty="0"/>
              <a:t>Der Fließtext ist in der Calibri Regular 18 p, 20 p Zeilenabstand angelegt.</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r>
              <a:rPr lang="de-DE" dirty="0"/>
              <a:t>Der Fließtext ist in der Calibri Regular 18 p, 20 p Zeilenabstand angelegt. </a:t>
            </a:r>
          </a:p>
          <a:p>
            <a:pPr marL="0" marR="0" lvl="2" indent="0" algn="l" defTabSz="914400" rtl="0" eaLnBrk="1" fontAlgn="auto" latinLnBrk="0" hangingPunct="1">
              <a:lnSpc>
                <a:spcPts val="2000"/>
              </a:lnSpc>
              <a:spcBef>
                <a:spcPts val="0"/>
              </a:spcBef>
              <a:spcAft>
                <a:spcPts val="0"/>
              </a:spcAft>
              <a:buClrTx/>
              <a:buSzTx/>
              <a:buFont typeface="Wingdings" charset="2"/>
              <a:buNone/>
              <a:tabLst/>
              <a:defRPr/>
            </a:pPr>
            <a:endParaRPr lang="de-DE" dirty="0"/>
          </a:p>
          <a:p>
            <a:pPr lvl="3"/>
            <a:r>
              <a:rPr lang="de-DE" dirty="0"/>
              <a:t>Dies ist ein Beispiel für eine Aufzählung in 1. Ebene </a:t>
            </a:r>
          </a:p>
          <a:p>
            <a:pPr lvl="3"/>
            <a:r>
              <a:rPr lang="de-DE" dirty="0"/>
              <a:t>Dies ist ein Beispiel für eine Aufzählung in 1. Ebene </a:t>
            </a:r>
          </a:p>
          <a:p>
            <a:pPr lvl="3"/>
            <a:r>
              <a:rPr lang="de-DE" dirty="0"/>
              <a:t>Dies ist ein Beispiel für eine Aufzählung in 1. Ebene</a:t>
            </a:r>
          </a:p>
          <a:p>
            <a:pPr lvl="4"/>
            <a:r>
              <a:rPr lang="de-DE" dirty="0"/>
              <a:t>Dies ist ein Beispiel für eine Aufzählung in 2. Ebene</a:t>
            </a:r>
          </a:p>
          <a:p>
            <a:pPr lvl="4"/>
            <a:r>
              <a:rPr lang="de-DE" dirty="0"/>
              <a:t>Dies ist ein Beispiel für eine Aufzählung in 2. Ebene </a:t>
            </a:r>
          </a:p>
          <a:p>
            <a:pPr lvl="3"/>
            <a:r>
              <a:rPr lang="de-DE" dirty="0"/>
              <a:t>Dies ist ein Beispiel für eine Aufzählung in 1. Ebene</a:t>
            </a:r>
          </a:p>
          <a:p>
            <a:pPr marL="216000" marR="0" lvl="3" indent="-216000" algn="l" defTabSz="914400" rtl="0" eaLnBrk="1" fontAlgn="auto" latinLnBrk="0" hangingPunct="1">
              <a:lnSpc>
                <a:spcPts val="2000"/>
              </a:lnSpc>
              <a:spcBef>
                <a:spcPts val="0"/>
              </a:spcBef>
              <a:spcAft>
                <a:spcPts val="0"/>
              </a:spcAft>
              <a:buClr>
                <a:srgbClr val="A8A8A7"/>
              </a:buClr>
              <a:buSzPct val="68000"/>
              <a:buFontTx/>
              <a:buBlip>
                <a:blip r:embed="rId3"/>
              </a:buBlip>
              <a:tabLst>
                <a:tab pos="173038" algn="l"/>
              </a:tabLst>
              <a:defRPr/>
            </a:pPr>
            <a:r>
              <a:rPr lang="de-DE" dirty="0"/>
              <a:t>Dies ist ein Beispiel für eine Aufzählung in 1. Ebene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 Schluss DE">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1163637" y="1881189"/>
            <a:ext cx="9864725" cy="3348037"/>
          </a:xfrm>
        </p:spPr>
        <p:txBody>
          <a:bodyPr>
            <a:noAutofit/>
          </a:bodyPr>
          <a:lstStyle>
            <a:lvl4pPr>
              <a:defRPr baseline="0"/>
            </a:lvl4pPr>
            <a:lvl5pPr>
              <a:defRPr/>
            </a:lvl5pPr>
          </a:lstStyle>
          <a:p>
            <a:pPr lvl="0"/>
            <a:r>
              <a:rPr lang="de-DE" dirty="0"/>
              <a:t>Danke</a:t>
            </a:r>
          </a:p>
          <a:p>
            <a:pPr lvl="3"/>
            <a:r>
              <a:rPr lang="de-DE" dirty="0"/>
              <a:t/>
            </a:r>
            <a:br>
              <a:rPr lang="de-DE" dirty="0"/>
            </a:br>
            <a:r>
              <a:rPr lang="de-DE" dirty="0"/>
              <a:t>HAWK</a:t>
            </a:r>
          </a:p>
          <a:p>
            <a:pPr lvl="3"/>
            <a:r>
              <a:rPr lang="de-DE" dirty="0"/>
              <a:t>Fakultät Ingenieurwissenschaften und Gesundheit</a:t>
            </a:r>
          </a:p>
          <a:p>
            <a:pPr lvl="4"/>
            <a:r>
              <a:rPr lang="de-DE" dirty="0" err="1"/>
              <a:t>Faculty</a:t>
            </a:r>
            <a:r>
              <a:rPr lang="de-DE" dirty="0"/>
              <a:t> </a:t>
            </a:r>
            <a:r>
              <a:rPr lang="de-DE" dirty="0" err="1"/>
              <a:t>of</a:t>
            </a:r>
            <a:r>
              <a:rPr lang="de-DE" dirty="0"/>
              <a:t> Engineering </a:t>
            </a:r>
            <a:r>
              <a:rPr lang="de-DE" dirty="0" err="1"/>
              <a:t>and</a:t>
            </a:r>
            <a:r>
              <a:rPr lang="de-DE" dirty="0"/>
              <a:t> </a:t>
            </a:r>
            <a:r>
              <a:rPr lang="de-DE" dirty="0" err="1"/>
              <a:t>Health</a:t>
            </a:r>
            <a:endParaRPr lang="de-DE" dirty="0"/>
          </a:p>
          <a:p>
            <a:pPr lvl="3"/>
            <a:r>
              <a:rPr lang="de-DE" dirty="0"/>
              <a:t>Von-Ossietzky-Straße 99</a:t>
            </a:r>
          </a:p>
          <a:p>
            <a:pPr lvl="3"/>
            <a:r>
              <a:rPr lang="de-DE" dirty="0"/>
              <a:t>37085 Göttingen</a:t>
            </a:r>
          </a:p>
          <a:p>
            <a:pPr lvl="3"/>
            <a:r>
              <a:rPr lang="de-DE" dirty="0"/>
              <a:t>Germany</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 Schluss E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1163637" y="1881189"/>
            <a:ext cx="9864725" cy="3348037"/>
          </a:xfrm>
        </p:spPr>
        <p:txBody>
          <a:bodyPr>
            <a:noAutofit/>
          </a:bodyPr>
          <a:lstStyle>
            <a:lvl4pPr>
              <a:defRPr baseline="0"/>
            </a:lvl4pPr>
            <a:lvl5pPr>
              <a:defRPr/>
            </a:lvl5pPr>
          </a:lstStyle>
          <a:p>
            <a:pPr lvl="0"/>
            <a:r>
              <a:rPr lang="de-DE" dirty="0" err="1"/>
              <a:t>Thank</a:t>
            </a:r>
            <a:r>
              <a:rPr lang="de-DE" dirty="0"/>
              <a:t> </a:t>
            </a:r>
            <a:r>
              <a:rPr lang="de-DE" dirty="0" err="1"/>
              <a:t>you</a:t>
            </a:r>
            <a:endParaRPr lang="de-DE" dirty="0"/>
          </a:p>
          <a:p>
            <a:pPr lvl="3"/>
            <a:r>
              <a:rPr lang="de-DE" dirty="0"/>
              <a:t/>
            </a:r>
            <a:br>
              <a:rPr lang="de-DE" dirty="0"/>
            </a:br>
            <a:r>
              <a:rPr lang="de-DE" dirty="0"/>
              <a:t>HAWK</a:t>
            </a:r>
          </a:p>
          <a:p>
            <a:pPr lvl="3"/>
            <a:r>
              <a:rPr lang="de-DE" dirty="0"/>
              <a:t>Fakultät Ingenieurwissenschaften und Gesundheit</a:t>
            </a:r>
          </a:p>
          <a:p>
            <a:pPr lvl="4"/>
            <a:r>
              <a:rPr lang="de-DE" dirty="0" err="1"/>
              <a:t>Faculty</a:t>
            </a:r>
            <a:r>
              <a:rPr lang="de-DE" dirty="0"/>
              <a:t> </a:t>
            </a:r>
            <a:r>
              <a:rPr lang="de-DE" dirty="0" err="1"/>
              <a:t>of</a:t>
            </a:r>
            <a:r>
              <a:rPr lang="de-DE" dirty="0"/>
              <a:t> Engineering </a:t>
            </a:r>
            <a:r>
              <a:rPr lang="de-DE" dirty="0" err="1"/>
              <a:t>and</a:t>
            </a:r>
            <a:r>
              <a:rPr lang="de-DE" dirty="0"/>
              <a:t> </a:t>
            </a:r>
            <a:r>
              <a:rPr lang="de-DE" dirty="0" err="1"/>
              <a:t>Health</a:t>
            </a:r>
            <a:endParaRPr lang="de-DE" dirty="0"/>
          </a:p>
          <a:p>
            <a:pPr lvl="3"/>
            <a:r>
              <a:rPr lang="de-DE" dirty="0"/>
              <a:t>Von-Ossietzky-Straße 99</a:t>
            </a:r>
          </a:p>
          <a:p>
            <a:pPr lvl="3"/>
            <a:r>
              <a:rPr lang="de-DE" dirty="0"/>
              <a:t>37085 Göttingen</a:t>
            </a:r>
          </a:p>
          <a:p>
            <a:pPr lvl="3"/>
            <a:r>
              <a:rPr lang="de-DE" dirty="0"/>
              <a:t>Germany</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4" Type="http://schemas.openxmlformats.org/officeDocument/2006/relationships/image" Target="../media/image3.emf"/></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6.xml"/><Relationship Id="rId1" Type="http://schemas.openxmlformats.org/officeDocument/2006/relationships/slideLayout" Target="../slideLayouts/slideLayout5.xml"/><Relationship Id="rId4" Type="http://schemas.openxmlformats.org/officeDocument/2006/relationships/image" Target="../media/image5.emf"/></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theme" Target="../theme/theme4.xml"/><Relationship Id="rId1" Type="http://schemas.openxmlformats.org/officeDocument/2006/relationships/slideLayout" Target="../slideLayouts/slideLayout7.xml"/><Relationship Id="rId4" Type="http://schemas.openxmlformats.org/officeDocument/2006/relationships/image" Target="../media/image8.emf"/></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9.xml"/><Relationship Id="rId1" Type="http://schemas.openxmlformats.org/officeDocument/2006/relationships/slideLayout" Target="../slideLayouts/slideLayout8.xml"/><Relationship Id="rId4" Type="http://schemas.openxmlformats.org/officeDocument/2006/relationships/image" Target="../media/image10.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261197"/>
      </p:ext>
    </p:extLst>
  </p:cSld>
  <p:clrMap bg1="lt1" tx1="dk1" bg2="lt2" tx2="dk2" accent1="accent1" accent2="accent2" accent3="accent3" accent4="accent4" accent5="accent5" accent6="accent6" hlink="hlink" folHlink="folHlink"/>
  <p:sldLayoutIdLst>
    <p:sldLayoutId id="2147483676" r:id="rId1"/>
    <p:sldLayoutId id="2147483690"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2pPr>
      <a:lvl3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3pPr>
      <a:lvl4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4pPr>
      <a:lvl5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7537" userDrawn="1">
          <p15:clr>
            <a:srgbClr val="5ACBF0"/>
          </p15:clr>
        </p15:guide>
        <p15:guide id="2" pos="143" userDrawn="1">
          <p15:clr>
            <a:srgbClr val="5ACBF0"/>
          </p15:clr>
        </p15:guide>
        <p15:guide id="3" orient="horz" pos="142" userDrawn="1">
          <p15:clr>
            <a:srgbClr val="5ACBF0"/>
          </p15:clr>
        </p15:guide>
        <p15:guide id="4" orient="horz" pos="4178" userDrawn="1">
          <p15:clr>
            <a:srgbClr val="5ACBF0"/>
          </p15:clr>
        </p15:guide>
        <p15:guide id="5" orient="horz" pos="935" userDrawn="1">
          <p15:clr>
            <a:srgbClr val="C35EA4"/>
          </p15:clr>
        </p15:guide>
        <p15:guide id="6" orient="horz" pos="3362"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163638" y="4804078"/>
            <a:ext cx="9864725" cy="648301"/>
          </a:xfrm>
          <a:prstGeom prst="rect">
            <a:avLst/>
          </a:prstGeom>
        </p:spPr>
        <p:txBody>
          <a:bodyPr vert="horz" lIns="0" tIns="0" rIns="0" bIns="0" rtlCol="0" anchor="b" anchorCtr="0">
            <a:noAutofit/>
          </a:bodyPr>
          <a:lstStyle/>
          <a:p>
            <a:r>
              <a:rPr lang="de-DE" dirty="0"/>
              <a:t>Headline 1 Calibri </a:t>
            </a:r>
            <a:r>
              <a:rPr lang="de-DE" dirty="0" err="1"/>
              <a:t>Bold</a:t>
            </a:r>
            <a:r>
              <a:rPr lang="de-DE" dirty="0"/>
              <a:t> 36 p</a:t>
            </a:r>
          </a:p>
        </p:txBody>
      </p:sp>
    </p:spTree>
    <p:extLst>
      <p:ext uri="{BB962C8B-B14F-4D97-AF65-F5344CB8AC3E}">
        <p14:creationId xmlns:p14="http://schemas.microsoft.com/office/powerpoint/2010/main" val="1628278009"/>
      </p:ext>
    </p:extLst>
  </p:cSld>
  <p:clrMap bg1="lt1" tx1="dk1" bg2="lt2" tx2="dk2" accent1="accent1" accent2="accent2" accent3="accent3" accent4="accent4" accent5="accent5" accent6="accent6" hlink="hlink" folHlink="folHlink"/>
  <p:sldLayoutIdLst>
    <p:sldLayoutId id="2147483678" r:id="rId1"/>
    <p:sldLayoutId id="2147483688" r:id="rId2"/>
  </p:sldLayoutIdLst>
  <p:hf hdr="0" ftr="0" dt="0"/>
  <p:txStyles>
    <p:titleStyle>
      <a:lvl1pPr algn="r" defTabSz="914400" rtl="0" eaLnBrk="1" latinLnBrk="0" hangingPunct="1">
        <a:lnSpc>
          <a:spcPct val="90000"/>
        </a:lnSpc>
        <a:spcBef>
          <a:spcPct val="0"/>
        </a:spcBef>
        <a:buNone/>
        <a:defRPr sz="3600" b="1" kern="1200">
          <a:solidFill>
            <a:schemeClr val="bg1"/>
          </a:solidFill>
          <a:latin typeface="Calibri" charset="0"/>
          <a:ea typeface="Calibri" charset="0"/>
          <a:cs typeface="Calibri" charset="0"/>
        </a:defRPr>
      </a:lvl1pPr>
    </p:titleStyle>
    <p:bodyStyle>
      <a:lvl1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2pPr>
      <a:lvl3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3pPr>
      <a:lvl4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4pPr>
      <a:lvl5pPr marL="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7537" userDrawn="1">
          <p15:clr>
            <a:srgbClr val="5ACBF0"/>
          </p15:clr>
        </p15:guide>
        <p15:guide id="2" pos="6947" userDrawn="1">
          <p15:clr>
            <a:srgbClr val="C35EA4"/>
          </p15:clr>
        </p15:guide>
        <p15:guide id="3" pos="733" userDrawn="1">
          <p15:clr>
            <a:srgbClr val="C35EA4"/>
          </p15:clr>
        </p15:guide>
        <p15:guide id="4" pos="143" userDrawn="1">
          <p15:clr>
            <a:srgbClr val="5ACBF0"/>
          </p15:clr>
        </p15:guide>
        <p15:guide id="6" orient="horz" pos="142" userDrawn="1">
          <p15:clr>
            <a:srgbClr val="5ACBF0"/>
          </p15:clr>
        </p15:guide>
        <p15:guide id="7" orient="horz" pos="935" userDrawn="1">
          <p15:clr>
            <a:srgbClr val="C35EA4"/>
          </p15:clr>
        </p15:guide>
        <p15:guide id="8" orient="horz" pos="3362" userDrawn="1">
          <p15:clr>
            <a:srgbClr val="C35EA4"/>
          </p15:clr>
        </p15:guide>
        <p15:guide id="9" orient="horz" pos="4178"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1163639" y="1881189"/>
            <a:ext cx="9864724" cy="3348037"/>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084383542"/>
      </p:ext>
    </p:extLst>
  </p:cSld>
  <p:clrMap bg1="lt1" tx1="dk1" bg2="lt2" tx2="dk2" accent1="accent1" accent2="accent2" accent3="accent3" accent4="accent4" accent5="accent5" accent6="accent6" hlink="hlink" folHlink="folHlink"/>
  <p:sldLayoutIdLst>
    <p:sldLayoutId id="2147483681" r:id="rId1"/>
    <p:sldLayoutId id="2147483682"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914400" rtl="0" eaLnBrk="1" latinLnBrk="0" hangingPunct="1">
        <a:lnSpc>
          <a:spcPts val="3800"/>
        </a:lnSpc>
        <a:spcBef>
          <a:spcPts val="0"/>
        </a:spcBef>
        <a:buFont typeface="Arial"/>
        <a:buNone/>
        <a:defRPr sz="3600" b="1" kern="1200">
          <a:solidFill>
            <a:srgbClr val="575756"/>
          </a:solidFill>
          <a:latin typeface="Calibri" charset="0"/>
          <a:ea typeface="Calibri" charset="0"/>
          <a:cs typeface="Calibri" charset="0"/>
        </a:defRPr>
      </a:lvl1pPr>
      <a:lvl2pPr marL="403200" indent="0" algn="l" defTabSz="914400" rtl="0" eaLnBrk="1" latinLnBrk="0" hangingPunct="1">
        <a:lnSpc>
          <a:spcPts val="2400"/>
        </a:lnSpc>
        <a:spcBef>
          <a:spcPts val="0"/>
        </a:spcBef>
        <a:buFont typeface="Arial"/>
        <a:buNone/>
        <a:defRPr sz="2400" b="1" kern="1200">
          <a:solidFill>
            <a:srgbClr val="575756"/>
          </a:solidFill>
          <a:latin typeface="Calibri" charset="0"/>
          <a:ea typeface="Calibri" charset="0"/>
          <a:cs typeface="Calibri" charset="0"/>
        </a:defRPr>
      </a:lvl2pPr>
      <a:lvl3pPr marL="403200" indent="0" algn="l" defTabSz="914400" rtl="0" eaLnBrk="1" latinLnBrk="0" hangingPunct="1">
        <a:lnSpc>
          <a:spcPts val="2000"/>
        </a:lnSpc>
        <a:spcBef>
          <a:spcPts val="0"/>
        </a:spcBef>
        <a:buFont typeface="Arial"/>
        <a:buNone/>
        <a:defRPr sz="1800" b="1" kern="1200">
          <a:solidFill>
            <a:schemeClr val="tx1"/>
          </a:solidFill>
          <a:latin typeface="Calibri" charset="0"/>
          <a:ea typeface="Calibri" charset="0"/>
          <a:cs typeface="Calibri" charset="0"/>
        </a:defRPr>
      </a:lvl3pPr>
      <a:lvl4pPr marL="40320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4pPr>
      <a:lvl5pPr marL="403200" indent="0" algn="l" defTabSz="914400" rtl="0" eaLnBrk="1" latinLnBrk="0" hangingPunct="1">
        <a:lnSpc>
          <a:spcPts val="2000"/>
        </a:lnSpc>
        <a:spcBef>
          <a:spcPts val="0"/>
        </a:spcBef>
        <a:buFont typeface="Arial"/>
        <a:buNone/>
        <a:defRPr sz="1800" kern="1200">
          <a:solidFill>
            <a:srgbClr val="A8A8A7"/>
          </a:solidFill>
          <a:latin typeface="Calibri" charset="0"/>
          <a:ea typeface="Calibri" charset="0"/>
          <a:cs typeface="Calibri"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orient="horz" pos="142" userDrawn="1">
          <p15:clr>
            <a:srgbClr val="5ACBF0"/>
          </p15:clr>
        </p15:guide>
        <p15:guide id="2" orient="horz" pos="4178" userDrawn="1">
          <p15:clr>
            <a:srgbClr val="5ACBF0"/>
          </p15:clr>
        </p15:guide>
        <p15:guide id="3" orient="horz" pos="1185" userDrawn="1">
          <p15:clr>
            <a:srgbClr val="C35EA4"/>
          </p15:clr>
        </p15:guide>
        <p15:guide id="4" orient="horz" pos="3294" userDrawn="1">
          <p15:clr>
            <a:srgbClr val="C35EA4"/>
          </p15:clr>
        </p15:guide>
        <p15:guide id="5" pos="143" userDrawn="1">
          <p15:clr>
            <a:srgbClr val="5ACBF0"/>
          </p15:clr>
        </p15:guide>
        <p15:guide id="6" pos="733" userDrawn="1">
          <p15:clr>
            <a:srgbClr val="C35EA4"/>
          </p15:clr>
        </p15:guide>
        <p15:guide id="7" pos="6947" userDrawn="1">
          <p15:clr>
            <a:srgbClr val="C35EA4"/>
          </p15:clr>
        </p15:guide>
        <p15:guide id="8" pos="7537" userDrawn="1">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1163638" y="1196976"/>
            <a:ext cx="9864723" cy="4938212"/>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feld 7"/>
          <p:cNvSpPr txBox="1"/>
          <p:nvPr userDrawn="1"/>
        </p:nvSpPr>
        <p:spPr>
          <a:xfrm>
            <a:off x="11028362" y="6135188"/>
            <a:ext cx="936625" cy="503237"/>
          </a:xfrm>
          <a:prstGeom prst="rect">
            <a:avLst/>
          </a:prstGeom>
          <a:noFill/>
        </p:spPr>
        <p:txBody>
          <a:bodyPr wrap="square" lIns="0" tIns="0" rIns="0" bIns="93600" rtlCol="0" anchor="b" anchorCtr="0">
            <a:noAutofit/>
          </a:bodyPr>
          <a:lstStyle/>
          <a:p>
            <a:pPr algn="r"/>
            <a:fld id="{5DC15FB1-D152-E94E-86AD-F453512DAE7F}" type="slidenum">
              <a:rPr lang="de-DE" sz="950" smtClean="0">
                <a:solidFill>
                  <a:srgbClr val="575756"/>
                </a:solidFill>
              </a:rPr>
              <a:pPr algn="r"/>
              <a:t>‹Nr.›</a:t>
            </a:fld>
            <a:endParaRPr lang="de-DE" sz="950" dirty="0">
              <a:solidFill>
                <a:srgbClr val="575756"/>
              </a:solidFill>
            </a:endParaRPr>
          </a:p>
        </p:txBody>
      </p:sp>
    </p:spTree>
    <p:extLst>
      <p:ext uri="{BB962C8B-B14F-4D97-AF65-F5344CB8AC3E}">
        <p14:creationId xmlns:p14="http://schemas.microsoft.com/office/powerpoint/2010/main" val="1317550394"/>
      </p:ext>
    </p:extLst>
  </p:cSld>
  <p:clrMap bg1="lt1" tx1="dk1" bg2="lt2" tx2="dk2" accent1="accent1" accent2="accent2" accent3="accent3" accent4="accent4" accent5="accent5" accent6="accent6" hlink="hlink" folHlink="folHlink"/>
  <p:sldLayoutIdLst>
    <p:sldLayoutId id="2147483684" r:id="rId1"/>
  </p:sldLayoutIdLst>
  <p:hf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0" indent="0" algn="l" defTabSz="914400" rtl="0" eaLnBrk="1" latinLnBrk="0" hangingPunct="1">
        <a:lnSpc>
          <a:spcPts val="2600"/>
        </a:lnSpc>
        <a:spcBef>
          <a:spcPts val="0"/>
        </a:spcBef>
        <a:buFont typeface="Arial"/>
        <a:buNone/>
        <a:defRPr sz="2400" b="1" kern="120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a:solidFill>
            <a:schemeClr val="tx1"/>
          </a:solidFill>
          <a:latin typeface="Calibri" charset="0"/>
          <a:ea typeface="Calibri" charset="0"/>
          <a:cs typeface="Calibri" charset="0"/>
        </a:defRPr>
      </a:lvl2pPr>
      <a:lvl3pPr marL="0" indent="0" algn="l" defTabSz="914400" rtl="0" eaLnBrk="1" latinLnBrk="0" hangingPunct="1">
        <a:lnSpc>
          <a:spcPts val="2000"/>
        </a:lnSpc>
        <a:spcBef>
          <a:spcPts val="0"/>
        </a:spcBef>
        <a:buFont typeface="Wingdings" charset="2"/>
        <a:buNone/>
        <a:defRPr sz="1800" kern="120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defRPr sz="1800" kern="1200">
          <a:solidFill>
            <a:schemeClr val="tx1"/>
          </a:solidFill>
          <a:latin typeface="+mn-lt"/>
          <a:ea typeface="+mn-ea"/>
          <a:cs typeface="+mn-cs"/>
        </a:defRPr>
      </a:lvl4pPr>
      <a:lvl5pPr marL="410400" indent="-216000" algn="l" defTabSz="914400" rtl="0" eaLnBrk="1" latinLnBrk="0" hangingPunct="1">
        <a:lnSpc>
          <a:spcPts val="2000"/>
        </a:lnSpc>
        <a:spcBef>
          <a:spcPts val="0"/>
        </a:spcBef>
        <a:buFont typeface="Symbol" charset="2"/>
        <a:buChar char="-"/>
        <a:tabLst/>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733" userDrawn="1">
          <p15:clr>
            <a:srgbClr val="C35EA4"/>
          </p15:clr>
        </p15:guide>
        <p15:guide id="2" pos="143" userDrawn="1">
          <p15:clr>
            <a:srgbClr val="5ACBF0"/>
          </p15:clr>
        </p15:guide>
        <p15:guide id="3" pos="6947" userDrawn="1">
          <p15:clr>
            <a:srgbClr val="C35EA4"/>
          </p15:clr>
        </p15:guide>
        <p15:guide id="4" pos="7537" userDrawn="1">
          <p15:clr>
            <a:srgbClr val="5ACBF0"/>
          </p15:clr>
        </p15:guide>
        <p15:guide id="5" orient="horz" pos="4178" userDrawn="1">
          <p15:clr>
            <a:srgbClr val="5ACBF0"/>
          </p15:clr>
        </p15:guide>
        <p15:guide id="6" orient="horz" pos="142" userDrawn="1">
          <p15:clr>
            <a:srgbClr val="5ACBF0"/>
          </p15:clr>
        </p15:guide>
        <p15:guide id="7" orient="horz" pos="754" userDrawn="1">
          <p15:clr>
            <a:srgbClr val="C35EA4"/>
          </p15:clr>
        </p15:guide>
        <p15:guide id="8" orient="horz" pos="3861" userDrawn="1">
          <p15:clr>
            <a:srgbClr val="C35EA4"/>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1163639" y="1881189"/>
            <a:ext cx="9864724" cy="3348037"/>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365587741"/>
      </p:ext>
    </p:extLst>
  </p:cSld>
  <p:clrMap bg1="lt1" tx1="dk1" bg2="lt2" tx2="dk2" accent1="accent1" accent2="accent2" accent3="accent3" accent4="accent4" accent5="accent5" accent6="accent6" hlink="hlink" folHlink="folHlink"/>
  <p:sldLayoutIdLst>
    <p:sldLayoutId id="2147483686" r:id="rId1"/>
    <p:sldLayoutId id="2147483689"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914400" rtl="0" eaLnBrk="1" latinLnBrk="0" hangingPunct="1">
        <a:lnSpc>
          <a:spcPts val="3800"/>
        </a:lnSpc>
        <a:spcBef>
          <a:spcPts val="0"/>
        </a:spcBef>
        <a:buFont typeface="Arial"/>
        <a:buNone/>
        <a:defRPr sz="3600" b="1" kern="1200">
          <a:solidFill>
            <a:srgbClr val="575756"/>
          </a:solidFill>
          <a:latin typeface="Calibri" charset="0"/>
          <a:ea typeface="Calibri" charset="0"/>
          <a:cs typeface="Calibri" charset="0"/>
        </a:defRPr>
      </a:lvl1pPr>
      <a:lvl2pPr marL="403200" indent="0" algn="l" defTabSz="914400" rtl="0" eaLnBrk="1" latinLnBrk="0" hangingPunct="1">
        <a:lnSpc>
          <a:spcPts val="2400"/>
        </a:lnSpc>
        <a:spcBef>
          <a:spcPts val="0"/>
        </a:spcBef>
        <a:buFont typeface="Arial"/>
        <a:buNone/>
        <a:defRPr sz="2400" b="1" kern="1200">
          <a:solidFill>
            <a:srgbClr val="575756"/>
          </a:solidFill>
          <a:latin typeface="Calibri" charset="0"/>
          <a:ea typeface="Calibri" charset="0"/>
          <a:cs typeface="Calibri" charset="0"/>
        </a:defRPr>
      </a:lvl2pPr>
      <a:lvl3pPr marL="403200" indent="0" algn="l" defTabSz="914400" rtl="0" eaLnBrk="1" latinLnBrk="0" hangingPunct="1">
        <a:lnSpc>
          <a:spcPts val="2000"/>
        </a:lnSpc>
        <a:spcBef>
          <a:spcPts val="0"/>
        </a:spcBef>
        <a:buFont typeface="Arial"/>
        <a:buNone/>
        <a:defRPr sz="1800" b="1" kern="1200">
          <a:solidFill>
            <a:schemeClr val="tx1"/>
          </a:solidFill>
          <a:latin typeface="Calibri" charset="0"/>
          <a:ea typeface="Calibri" charset="0"/>
          <a:cs typeface="Calibri" charset="0"/>
        </a:defRPr>
      </a:lvl3pPr>
      <a:lvl4pPr marL="403200" indent="0" algn="l" defTabSz="914400" rtl="0" eaLnBrk="1" latinLnBrk="0" hangingPunct="1">
        <a:lnSpc>
          <a:spcPts val="2000"/>
        </a:lnSpc>
        <a:spcBef>
          <a:spcPts val="0"/>
        </a:spcBef>
        <a:buFont typeface="Arial"/>
        <a:buNone/>
        <a:defRPr sz="1800" kern="1200">
          <a:solidFill>
            <a:schemeClr val="tx1"/>
          </a:solidFill>
          <a:latin typeface="Calibri" charset="0"/>
          <a:ea typeface="Calibri" charset="0"/>
          <a:cs typeface="Calibri" charset="0"/>
        </a:defRPr>
      </a:lvl4pPr>
      <a:lvl5pPr marL="403200" indent="0" algn="l" defTabSz="914400" rtl="0" eaLnBrk="1" latinLnBrk="0" hangingPunct="1">
        <a:lnSpc>
          <a:spcPts val="2000"/>
        </a:lnSpc>
        <a:spcBef>
          <a:spcPts val="0"/>
        </a:spcBef>
        <a:buFont typeface="Arial"/>
        <a:buNone/>
        <a:defRPr sz="1800" kern="1200">
          <a:solidFill>
            <a:srgbClr val="A8A8A7"/>
          </a:solidFill>
          <a:latin typeface="Calibri" charset="0"/>
          <a:ea typeface="Calibri" charset="0"/>
          <a:cs typeface="Calibri"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orient="horz" pos="142" userDrawn="1">
          <p15:clr>
            <a:srgbClr val="5ACBF0"/>
          </p15:clr>
        </p15:guide>
        <p15:guide id="2" orient="horz" pos="4178" userDrawn="1">
          <p15:clr>
            <a:srgbClr val="5ACBF0"/>
          </p15:clr>
        </p15:guide>
        <p15:guide id="3" orient="horz" pos="1185" userDrawn="1">
          <p15:clr>
            <a:srgbClr val="C35EA4"/>
          </p15:clr>
        </p15:guide>
        <p15:guide id="4" orient="horz" pos="3294" userDrawn="1">
          <p15:clr>
            <a:srgbClr val="C35EA4"/>
          </p15:clr>
        </p15:guide>
        <p15:guide id="5" pos="143" userDrawn="1">
          <p15:clr>
            <a:srgbClr val="5ACBF0"/>
          </p15:clr>
        </p15:guide>
        <p15:guide id="6" pos="733" userDrawn="1">
          <p15:clr>
            <a:srgbClr val="C35EA4"/>
          </p15:clr>
        </p15:guide>
        <p15:guide id="7" pos="6947" userDrawn="1">
          <p15:clr>
            <a:srgbClr val="C35EA4"/>
          </p15:clr>
        </p15:guide>
        <p15:guide id="8" pos="7537"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1.xml"/><Relationship Id="rId3" Type="http://schemas.openxmlformats.org/officeDocument/2006/relationships/image" Target="../media/image8.emf"/><Relationship Id="rId7" Type="http://schemas.openxmlformats.org/officeDocument/2006/relationships/image" Target="../media/image15.emf"/><Relationship Id="rId12"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diagramColors" Target="../diagrams/colors1.xml"/><Relationship Id="rId5" Type="http://schemas.openxmlformats.org/officeDocument/2006/relationships/image" Target="../media/image13.png"/><Relationship Id="rId10" Type="http://schemas.openxmlformats.org/officeDocument/2006/relationships/diagramQuickStyle" Target="../diagrams/quickStyle1.xml"/><Relationship Id="rId4" Type="http://schemas.openxmlformats.org/officeDocument/2006/relationships/image" Target="../media/image12.png"/><Relationship Id="rId9"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16.png"/><Relationship Id="rId7" Type="http://schemas.openxmlformats.org/officeDocument/2006/relationships/diagramQuickStyle" Target="../diagrams/quickStyle2.xm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8.emf"/><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image" Target="../media/image17.png"/><Relationship Id="rId7" Type="http://schemas.openxmlformats.org/officeDocument/2006/relationships/diagramData" Target="../diagrams/data3.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emf"/><Relationship Id="rId11" Type="http://schemas.microsoft.com/office/2007/relationships/diagramDrawing" Target="../diagrams/drawing3.xml"/><Relationship Id="rId5" Type="http://schemas.openxmlformats.org/officeDocument/2006/relationships/image" Target="../media/image15.emf"/><Relationship Id="rId10" Type="http://schemas.openxmlformats.org/officeDocument/2006/relationships/diagramColors" Target="../diagrams/colors3.xml"/><Relationship Id="rId4" Type="http://schemas.openxmlformats.org/officeDocument/2006/relationships/image" Target="../media/image18.png"/><Relationship Id="rId9"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19.png"/><Relationship Id="rId7" Type="http://schemas.openxmlformats.org/officeDocument/2006/relationships/diagramQuickStyle" Target="../diagrams/quickStyle4.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8.emf"/><Relationship Id="rId9" Type="http://schemas.microsoft.com/office/2007/relationships/diagramDrawing" Target="../diagrams/drawing4.xml"/></Relationships>
</file>

<file path=ppt/slides/_rels/slide7.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image" Target="../media/image20.png"/><Relationship Id="rId7" Type="http://schemas.openxmlformats.org/officeDocument/2006/relationships/diagramData" Target="../diagrams/data5.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8.emf"/><Relationship Id="rId11" Type="http://schemas.microsoft.com/office/2007/relationships/diagramDrawing" Target="../diagrams/drawing5.xml"/><Relationship Id="rId5" Type="http://schemas.openxmlformats.org/officeDocument/2006/relationships/image" Target="../media/image15.emf"/><Relationship Id="rId10" Type="http://schemas.openxmlformats.org/officeDocument/2006/relationships/diagramColors" Target="../diagrams/colors5.xml"/><Relationship Id="rId4" Type="http://schemas.openxmlformats.org/officeDocument/2006/relationships/image" Target="../media/image21.png"/><Relationship Id="rId9"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8" Type="http://schemas.openxmlformats.org/officeDocument/2006/relationships/diagramLayout" Target="../diagrams/layout6.xml"/><Relationship Id="rId3" Type="http://schemas.openxmlformats.org/officeDocument/2006/relationships/image" Target="../media/image22.png"/><Relationship Id="rId7" Type="http://schemas.openxmlformats.org/officeDocument/2006/relationships/diagramData" Target="../diagrams/data6.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8.emf"/><Relationship Id="rId11" Type="http://schemas.microsoft.com/office/2007/relationships/diagramDrawing" Target="../diagrams/drawing6.xml"/><Relationship Id="rId5" Type="http://schemas.openxmlformats.org/officeDocument/2006/relationships/image" Target="../media/image15.emf"/><Relationship Id="rId10" Type="http://schemas.openxmlformats.org/officeDocument/2006/relationships/diagramColors" Target="../diagrams/colors6.xml"/><Relationship Id="rId4" Type="http://schemas.openxmlformats.org/officeDocument/2006/relationships/image" Target="../media/image23.png"/><Relationship Id="rId9" Type="http://schemas.openxmlformats.org/officeDocument/2006/relationships/diagramQuickStyle" Target="../diagrams/quickStyle6.xml"/></Relationships>
</file>

<file path=ppt/slides/_rels/slide9.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image" Target="../media/image24.png"/><Relationship Id="rId7" Type="http://schemas.openxmlformats.org/officeDocument/2006/relationships/image" Target="../media/image8.emf"/><Relationship Id="rId12" Type="http://schemas.microsoft.com/office/2007/relationships/diagramDrawing" Target="../diagrams/drawing7.xm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5.emf"/><Relationship Id="rId11" Type="http://schemas.openxmlformats.org/officeDocument/2006/relationships/diagramColors" Target="../diagrams/colors7.xml"/><Relationship Id="rId5" Type="http://schemas.openxmlformats.org/officeDocument/2006/relationships/image" Target="../media/image26.png"/><Relationship Id="rId10" Type="http://schemas.openxmlformats.org/officeDocument/2006/relationships/diagramQuickStyle" Target="../diagrams/quickStyle7.xml"/><Relationship Id="rId4" Type="http://schemas.openxmlformats.org/officeDocument/2006/relationships/image" Target="../media/image25.png"/><Relationship Id="rId9" Type="http://schemas.openxmlformats.org/officeDocument/2006/relationships/diagramLayout" Target="../diagrams/layout7.xml"/></Relationships>
</file>

<file path=ppt/slides/_rels/slide10.xml.rels><?xml version="1.0" encoding="UTF-8" standalone="yes"?>
<Relationships xmlns="http://schemas.openxmlformats.org/package/2006/relationships"><Relationship Id="rId8" Type="http://schemas.openxmlformats.org/officeDocument/2006/relationships/diagramQuickStyle" Target="../diagrams/quickStyle8.xml"/><Relationship Id="rId3" Type="http://schemas.openxmlformats.org/officeDocument/2006/relationships/image" Target="../media/image27.png"/><Relationship Id="rId7" Type="http://schemas.openxmlformats.org/officeDocument/2006/relationships/diagramLayout" Target="../diagrams/layout8.xml"/><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diagramData" Target="../diagrams/data8.xml"/><Relationship Id="rId5" Type="http://schemas.openxmlformats.org/officeDocument/2006/relationships/image" Target="../media/image8.emf"/><Relationship Id="rId10" Type="http://schemas.microsoft.com/office/2007/relationships/diagramDrawing" Target="../diagrams/drawing8.xml"/><Relationship Id="rId4" Type="http://schemas.openxmlformats.org/officeDocument/2006/relationships/image" Target="../media/image15.emf"/><Relationship Id="rId9" Type="http://schemas.openxmlformats.org/officeDocument/2006/relationships/diagramColors" Target="../diagrams/colors8.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image" Target="../media/image8.emf"/><Relationship Id="rId7" Type="http://schemas.openxmlformats.org/officeDocument/2006/relationships/diagramData" Target="../diagrams/data9.xml"/><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9.png"/><Relationship Id="rId11" Type="http://schemas.microsoft.com/office/2007/relationships/diagramDrawing" Target="../diagrams/drawing9.xml"/><Relationship Id="rId5" Type="http://schemas.openxmlformats.org/officeDocument/2006/relationships/image" Target="../media/image28.png"/><Relationship Id="rId10" Type="http://schemas.openxmlformats.org/officeDocument/2006/relationships/diagramColors" Target="../diagrams/colors9.xml"/><Relationship Id="rId4" Type="http://schemas.openxmlformats.org/officeDocument/2006/relationships/image" Target="../media/image15.emf"/><Relationship Id="rId9" Type="http://schemas.openxmlformats.org/officeDocument/2006/relationships/diagramQuickStyle" Target="../diagrams/quickStyle9.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18" Type="http://schemas.microsoft.com/office/2007/relationships/diagramDrawing" Target="../diagrams/drawing10.xml"/><Relationship Id="rId3" Type="http://schemas.openxmlformats.org/officeDocument/2006/relationships/image" Target="../media/image30.png"/><Relationship Id="rId7" Type="http://schemas.openxmlformats.org/officeDocument/2006/relationships/image" Target="../media/image32.png"/><Relationship Id="rId12" Type="http://schemas.openxmlformats.org/officeDocument/2006/relationships/image" Target="../media/image37.png"/><Relationship Id="rId17" Type="http://schemas.openxmlformats.org/officeDocument/2006/relationships/diagramColors" Target="../diagrams/colors10.xml"/><Relationship Id="rId2" Type="http://schemas.openxmlformats.org/officeDocument/2006/relationships/notesSlide" Target="../notesSlides/notesSlide11.xml"/><Relationship Id="rId16" Type="http://schemas.openxmlformats.org/officeDocument/2006/relationships/diagramQuickStyle" Target="../diagrams/quickStyle10.xml"/><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8.emf"/><Relationship Id="rId15" Type="http://schemas.openxmlformats.org/officeDocument/2006/relationships/diagramLayout" Target="../diagrams/layout10.xml"/><Relationship Id="rId10" Type="http://schemas.openxmlformats.org/officeDocument/2006/relationships/image" Target="../media/image35.png"/><Relationship Id="rId4" Type="http://schemas.openxmlformats.org/officeDocument/2006/relationships/image" Target="../media/image15.emf"/><Relationship Id="rId9" Type="http://schemas.openxmlformats.org/officeDocument/2006/relationships/image" Target="../media/image34.png"/><Relationship Id="rId14" Type="http://schemas.openxmlformats.org/officeDocument/2006/relationships/diagramData" Target="../diagrams/data10.xml"/></Relationships>
</file>

<file path=ppt/slides/_rels/slide13.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8.emf"/><Relationship Id="rId7" Type="http://schemas.openxmlformats.org/officeDocument/2006/relationships/diagramColors" Target="../diagrams/colors11.xml"/><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14.xml.rels><?xml version="1.0" encoding="UTF-8" standalone="yes"?>
<Relationships xmlns="http://schemas.openxmlformats.org/package/2006/relationships"><Relationship Id="rId8" Type="http://schemas.openxmlformats.org/officeDocument/2006/relationships/diagramQuickStyle" Target="../diagrams/quickStyle12.xml"/><Relationship Id="rId3" Type="http://schemas.openxmlformats.org/officeDocument/2006/relationships/image" Target="../media/image39.png"/><Relationship Id="rId7" Type="http://schemas.openxmlformats.org/officeDocument/2006/relationships/diagramLayout" Target="../diagrams/layout12.xm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diagramData" Target="../diagrams/data12.xml"/><Relationship Id="rId5" Type="http://schemas.openxmlformats.org/officeDocument/2006/relationships/image" Target="../media/image8.emf"/><Relationship Id="rId10" Type="http://schemas.microsoft.com/office/2007/relationships/diagramDrawing" Target="../diagrams/drawing12.xml"/><Relationship Id="rId4" Type="http://schemas.openxmlformats.org/officeDocument/2006/relationships/image" Target="../media/image15.emf"/><Relationship Id="rId9" Type="http://schemas.openxmlformats.org/officeDocument/2006/relationships/diagramColors" Target="../diagrams/colors12.xml"/></Relationships>
</file>

<file path=ppt/slides/_rels/slide15.xml.rels><?xml version="1.0" encoding="UTF-8" standalone="yes"?>
<Relationships xmlns="http://schemas.openxmlformats.org/package/2006/relationships"><Relationship Id="rId8" Type="http://schemas.openxmlformats.org/officeDocument/2006/relationships/diagramQuickStyle" Target="../diagrams/quickStyle13.xml"/><Relationship Id="rId3" Type="http://schemas.openxmlformats.org/officeDocument/2006/relationships/image" Target="../media/image40.png"/><Relationship Id="rId7" Type="http://schemas.openxmlformats.org/officeDocument/2006/relationships/diagramLayout" Target="../diagrams/layout13.xm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diagramData" Target="../diagrams/data13.xml"/><Relationship Id="rId5" Type="http://schemas.openxmlformats.org/officeDocument/2006/relationships/image" Target="../media/image8.emf"/><Relationship Id="rId10" Type="http://schemas.microsoft.com/office/2007/relationships/diagramDrawing" Target="../diagrams/drawing13.xml"/><Relationship Id="rId4" Type="http://schemas.openxmlformats.org/officeDocument/2006/relationships/image" Target="../media/image15.emf"/><Relationship Id="rId9" Type="http://schemas.openxmlformats.org/officeDocument/2006/relationships/diagramColors" Target="../diagrams/colors13.xml"/></Relationships>
</file>

<file path=ppt/slides/_rels/slide16.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image" Target="../media/image41.png"/><Relationship Id="rId7" Type="http://schemas.openxmlformats.org/officeDocument/2006/relationships/diagramData" Target="../diagrams/data14.xml"/><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image" Target="../media/image43.svg"/><Relationship Id="rId11" Type="http://schemas.microsoft.com/office/2007/relationships/diagramDrawing" Target="../diagrams/drawing14.xml"/><Relationship Id="rId5" Type="http://schemas.openxmlformats.org/officeDocument/2006/relationships/image" Target="../media/image42.png"/><Relationship Id="rId10" Type="http://schemas.openxmlformats.org/officeDocument/2006/relationships/diagramColors" Target="../diagrams/colors14.xml"/><Relationship Id="rId4" Type="http://schemas.openxmlformats.org/officeDocument/2006/relationships/image" Target="../media/image15.emf"/><Relationship Id="rId9" Type="http://schemas.openxmlformats.org/officeDocument/2006/relationships/diagramQuickStyle" Target="../diagrams/quickStyl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8368909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idx="1"/>
          </p:nvPr>
        </p:nvSpPr>
        <p:spPr/>
        <p:txBody>
          <a:bodyPr/>
          <a:lstStyle/>
          <a:p>
            <a:pPr lvl="0"/>
            <a:r>
              <a:rPr lang="de-DE" dirty="0" err="1"/>
              <a:t>Robotikprojekt</a:t>
            </a:r>
            <a:r>
              <a:rPr lang="de-DE" dirty="0"/>
              <a:t> </a:t>
            </a:r>
            <a:r>
              <a:rPr lang="de-DE" dirty="0" err="1"/>
              <a:t>Turtlebot</a:t>
            </a:r>
            <a:endParaRPr lang="de-DE" dirty="0"/>
          </a:p>
          <a:p>
            <a:pPr lvl="3"/>
            <a:endParaRPr lang="de-DE" dirty="0"/>
          </a:p>
          <a:p>
            <a:pPr lvl="3"/>
            <a:r>
              <a:rPr lang="de-DE" dirty="0"/>
              <a:t>Von Janis Schneider und Niklas von Seggern</a:t>
            </a:r>
            <a:br>
              <a:rPr lang="de-DE" dirty="0"/>
            </a:br>
            <a:r>
              <a:rPr lang="de-DE" dirty="0"/>
              <a:t>06. März 2025</a:t>
            </a:r>
          </a:p>
          <a:p>
            <a:endParaRPr lang="de-DE" dirty="0"/>
          </a:p>
        </p:txBody>
      </p:sp>
    </p:spTree>
    <p:extLst>
      <p:ext uri="{BB962C8B-B14F-4D97-AF65-F5344CB8AC3E}">
        <p14:creationId xmlns:p14="http://schemas.microsoft.com/office/powerpoint/2010/main" val="151599238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1"/>
          <p:cNvSpPr>
            <a:spLocks noGrp="1"/>
          </p:cNvSpPr>
          <p:nvPr>
            <p:ph idx="1"/>
          </p:nvPr>
        </p:nvSpPr>
        <p:spPr>
          <a:xfrm>
            <a:off x="1163637" y="1196974"/>
            <a:ext cx="9864725" cy="4899025"/>
          </a:xfrm>
        </p:spPr>
        <p:txBody>
          <a:bodyPr/>
          <a:lstStyle/>
          <a:p>
            <a:pPr lvl="3"/>
            <a:endParaRPr lang="de-DE" dirty="0"/>
          </a:p>
          <a:p>
            <a:pPr lvl="3"/>
            <a:r>
              <a:rPr lang="de-DE" dirty="0" err="1"/>
              <a:t>Rectified_Image_Node</a:t>
            </a:r>
            <a:endParaRPr lang="de-DE" dirty="0"/>
          </a:p>
          <a:p>
            <a:pPr lvl="3"/>
            <a:endParaRPr lang="de-DE" dirty="0"/>
          </a:p>
          <a:p>
            <a:pPr lvl="3"/>
            <a:r>
              <a:rPr lang="de-DE" dirty="0" err="1"/>
              <a:t>Birdseye_Node</a:t>
            </a:r>
            <a:endParaRPr lang="de-DE" dirty="0"/>
          </a:p>
          <a:p>
            <a:pPr lvl="3"/>
            <a:endParaRPr lang="de-DE" dirty="0"/>
          </a:p>
          <a:p>
            <a:pPr lvl="3"/>
            <a:r>
              <a:rPr lang="de-DE" dirty="0" err="1"/>
              <a:t>Birdseye_With_LiDAR_Node</a:t>
            </a:r>
            <a:endParaRPr lang="de-DE" dirty="0"/>
          </a:p>
          <a:p>
            <a:pPr lvl="3"/>
            <a:endParaRPr lang="de-DE" dirty="0"/>
          </a:p>
          <a:p>
            <a:pPr lvl="3"/>
            <a:r>
              <a:rPr lang="de-DE" dirty="0" err="1"/>
              <a:t>Follow_Line_Node</a:t>
            </a:r>
            <a:endParaRPr lang="de-DE" dirty="0"/>
          </a:p>
          <a:p>
            <a:pPr lvl="3"/>
            <a:endParaRPr lang="de-DE" dirty="0"/>
          </a:p>
          <a:p>
            <a:pPr lvl="3"/>
            <a:r>
              <a:rPr lang="de-DE" dirty="0"/>
              <a:t>Zusammenspiel der Nodes</a:t>
            </a:r>
          </a:p>
          <a:p>
            <a:pPr lvl="3"/>
            <a:endParaRPr lang="de-DE" dirty="0"/>
          </a:p>
          <a:p>
            <a:pPr lvl="3"/>
            <a:r>
              <a:rPr lang="de-DE" dirty="0"/>
              <a:t>Fahren …</a:t>
            </a:r>
          </a:p>
          <a:p>
            <a:pPr lvl="3"/>
            <a:endParaRPr lang="de-DE" dirty="0"/>
          </a:p>
          <a:p>
            <a:pPr lvl="3"/>
            <a:endParaRPr lang="de-DE" dirty="0"/>
          </a:p>
          <a:p>
            <a:pPr lvl="3"/>
            <a:endParaRPr lang="de-DE" dirty="0"/>
          </a:p>
          <a:p>
            <a:pPr lvl="3"/>
            <a:endParaRPr lang="de-DE" dirty="0"/>
          </a:p>
          <a:p>
            <a:pPr lvl="3"/>
            <a:endParaRPr lang="de-DE" dirty="0"/>
          </a:p>
        </p:txBody>
      </p:sp>
      <p:sp>
        <p:nvSpPr>
          <p:cNvPr id="2" name="Inhaltsplatzhalter 1">
            <a:extLst>
              <a:ext uri="{FF2B5EF4-FFF2-40B4-BE49-F238E27FC236}">
                <a16:creationId xmlns:a16="http://schemas.microsoft.com/office/drawing/2014/main" xmlns="" id="{B7DBC3A2-3AD8-37EC-F234-7B88590F70DA}"/>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3"/>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a:t>Inhalt</a:t>
            </a:r>
          </a:p>
        </p:txBody>
      </p:sp>
      <p:pic>
        <p:nvPicPr>
          <p:cNvPr id="4" name="Grafik 3" descr="Ein Bild, das Grafiken, Kreis, Symbol enthält.&#10;&#10;KI-generierte Inhalte können fehlerhaft sein.">
            <a:extLst>
              <a:ext uri="{FF2B5EF4-FFF2-40B4-BE49-F238E27FC236}">
                <a16:creationId xmlns:a16="http://schemas.microsoft.com/office/drawing/2014/main" xmlns="" id="{41D9F11B-611F-15FC-8946-A6D4ECD05C12}"/>
              </a:ext>
            </a:extLst>
          </p:cNvPr>
          <p:cNvPicPr>
            <a:picLocks noChangeAspect="1"/>
          </p:cNvPicPr>
          <p:nvPr/>
        </p:nvPicPr>
        <p:blipFill>
          <a:blip r:embed="rId4"/>
          <a:stretch>
            <a:fillRect/>
          </a:stretch>
        </p:blipFill>
        <p:spPr>
          <a:xfrm>
            <a:off x="6299803" y="1433641"/>
            <a:ext cx="788686" cy="730265"/>
          </a:xfrm>
          <a:prstGeom prst="rect">
            <a:avLst/>
          </a:prstGeom>
        </p:spPr>
      </p:pic>
      <p:pic>
        <p:nvPicPr>
          <p:cNvPr id="9" name="Grafik 8" descr="Ein Bild, das Schrift, Grafiken, Symbol, Logo enthält.&#10;&#10;KI-generierte Inhalte können fehlerhaft sein.">
            <a:extLst>
              <a:ext uri="{FF2B5EF4-FFF2-40B4-BE49-F238E27FC236}">
                <a16:creationId xmlns:a16="http://schemas.microsoft.com/office/drawing/2014/main" xmlns="" id="{5E7DCDD6-BD89-94FF-19CC-798706B34096}"/>
              </a:ext>
            </a:extLst>
          </p:cNvPr>
          <p:cNvPicPr>
            <a:picLocks noChangeAspect="1"/>
          </p:cNvPicPr>
          <p:nvPr/>
        </p:nvPicPr>
        <p:blipFill>
          <a:blip r:embed="rId5"/>
          <a:stretch>
            <a:fillRect/>
          </a:stretch>
        </p:blipFill>
        <p:spPr>
          <a:xfrm>
            <a:off x="8304345" y="1433641"/>
            <a:ext cx="2724018" cy="720163"/>
          </a:xfrm>
          <a:prstGeom prst="rect">
            <a:avLst/>
          </a:prstGeom>
          <a:solidFill>
            <a:srgbClr val="15253E"/>
          </a:solidFill>
        </p:spPr>
      </p:pic>
      <p:pic>
        <p:nvPicPr>
          <p:cNvPr id="11" name="Grafik 10" descr="Ein Bild, das Autoteile, Reifen, Spielzeug, Rad enthält.&#10;&#10;KI-generierte Inhalte können fehlerhaft sein.">
            <a:extLst>
              <a:ext uri="{FF2B5EF4-FFF2-40B4-BE49-F238E27FC236}">
                <a16:creationId xmlns:a16="http://schemas.microsoft.com/office/drawing/2014/main" xmlns="" id="{4A0E676E-9DEB-B2FF-2306-D4595B82364D}"/>
              </a:ext>
            </a:extLst>
          </p:cNvPr>
          <p:cNvPicPr>
            <a:picLocks noChangeAspect="1"/>
          </p:cNvPicPr>
          <p:nvPr/>
        </p:nvPicPr>
        <p:blipFill>
          <a:blip r:embed="rId6"/>
          <a:stretch>
            <a:fillRect/>
          </a:stretch>
        </p:blipFill>
        <p:spPr>
          <a:xfrm>
            <a:off x="7269219" y="3087051"/>
            <a:ext cx="1821881" cy="2065656"/>
          </a:xfrm>
          <a:prstGeom prst="rect">
            <a:avLst/>
          </a:prstGeom>
        </p:spPr>
      </p:pic>
      <p:sp>
        <p:nvSpPr>
          <p:cNvPr id="12" name="Inhaltsplatzhalter 1">
            <a:extLst>
              <a:ext uri="{FF2B5EF4-FFF2-40B4-BE49-F238E27FC236}">
                <a16:creationId xmlns:a16="http://schemas.microsoft.com/office/drawing/2014/main" xmlns="" id="{9B4575F6-690C-6B5C-463D-489F8FA3E1EF}"/>
              </a:ext>
            </a:extLst>
          </p:cNvPr>
          <p:cNvSpPr txBox="1">
            <a:spLocks/>
          </p:cNvSpPr>
          <p:nvPr/>
        </p:nvSpPr>
        <p:spPr>
          <a:xfrm>
            <a:off x="6095999" y="5515872"/>
            <a:ext cx="4932363" cy="75919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7"/>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sz="1200" dirty="0">
                <a:solidFill>
                  <a:schemeClr val="bg1">
                    <a:lumMod val="50000"/>
                  </a:schemeClr>
                </a:solidFill>
              </a:rPr>
              <a:t>https://docs.opencv.org/3.4/d3/dbe/tutorial_opening_closing_hats.html</a:t>
            </a:r>
          </a:p>
          <a:p>
            <a:pPr lvl="2" algn="ctr">
              <a:defRPr/>
            </a:pPr>
            <a:r>
              <a:rPr lang="de-DE" sz="1200" dirty="0">
                <a:solidFill>
                  <a:schemeClr val="bg1">
                    <a:lumMod val="50000"/>
                  </a:schemeClr>
                </a:solidFill>
              </a:rPr>
              <a:t>https://www.ros.org/</a:t>
            </a:r>
          </a:p>
          <a:p>
            <a:pPr lvl="2" algn="ctr">
              <a:defRPr/>
            </a:pPr>
            <a:r>
              <a:rPr lang="de-DE" sz="1200" dirty="0">
                <a:solidFill>
                  <a:schemeClr val="bg1">
                    <a:lumMod val="50000"/>
                  </a:schemeClr>
                </a:solidFill>
              </a:rPr>
              <a:t>https://emanual.robotis.com/docs/en/platform/turtlebot3/features/</a:t>
            </a:r>
          </a:p>
          <a:p>
            <a:pPr lvl="2" algn="ctr">
              <a:defRPr/>
            </a:pPr>
            <a:endParaRPr lang="de-DE" sz="1200" dirty="0">
              <a:solidFill>
                <a:schemeClr val="bg1">
                  <a:lumMod val="50000"/>
                </a:schemeClr>
              </a:solidFill>
            </a:endParaRPr>
          </a:p>
        </p:txBody>
      </p:sp>
      <p:graphicFrame>
        <p:nvGraphicFramePr>
          <p:cNvPr id="14" name="Diagramm 13">
            <a:extLst>
              <a:ext uri="{FF2B5EF4-FFF2-40B4-BE49-F238E27FC236}">
                <a16:creationId xmlns:a16="http://schemas.microsoft.com/office/drawing/2014/main" xmlns="" id="{2A7E621D-C27F-9F1E-ECE1-83DD80E849D4}"/>
              </a:ext>
            </a:extLst>
          </p:cNvPr>
          <p:cNvGraphicFramePr/>
          <p:nvPr>
            <p:extLst>
              <p:ext uri="{D42A27DB-BD31-4B8C-83A1-F6EECF244321}">
                <p14:modId xmlns:p14="http://schemas.microsoft.com/office/powerpoint/2010/main" val="479477827"/>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150297739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FB090C-FDA6-0668-370D-61BA680247C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Inhaltsplatzhalter 1">
                <a:extLst>
                  <a:ext uri="{FF2B5EF4-FFF2-40B4-BE49-F238E27FC236}">
                    <a16:creationId xmlns:a16="http://schemas.microsoft.com/office/drawing/2014/main" xmlns="" id="{62D6F64F-CEAB-7608-BCBB-1B42FB8DE90A}"/>
                  </a:ext>
                </a:extLst>
              </p:cNvPr>
              <p:cNvSpPr>
                <a:spLocks noGrp="1"/>
              </p:cNvSpPr>
              <p:nvPr>
                <p:ph idx="1"/>
              </p:nvPr>
            </p:nvSpPr>
            <p:spPr>
              <a:xfrm>
                <a:off x="1163637" y="1196974"/>
                <a:ext cx="9864725" cy="4899025"/>
              </a:xfrm>
            </p:spPr>
            <p:txBody>
              <a:bodyPr/>
              <a:lstStyle/>
              <a:p>
                <a:pPr lvl="3"/>
                <a:r>
                  <a:rPr lang="de-DE" dirty="0"/>
                  <a:t>Erstellt das rektifizierte Bild</a:t>
                </a:r>
              </a:p>
              <a:p>
                <a:pPr lvl="3"/>
                <a:endParaRPr lang="de-DE" dirty="0"/>
              </a:p>
              <a:p>
                <a:pPr lvl="3"/>
                <a:r>
                  <a:rPr lang="de-DE" dirty="0"/>
                  <a:t>Abonniert das Kamerabild und entfernt Verzerrungen mit Angabe der Kameramatrix und Verzerrungskoeffizienten</a:t>
                </a:r>
              </a:p>
              <a:p>
                <a:pPr lvl="3"/>
                <a:endParaRPr lang="de-DE" dirty="0"/>
              </a:p>
              <a:p>
                <a:pPr lvl="3"/>
                <a:r>
                  <a:rPr lang="de-DE" dirty="0"/>
                  <a:t>Matrix und Koeffizienten erhält man aus der </a:t>
                </a:r>
                <a:r>
                  <a:rPr lang="de-DE" dirty="0" err="1"/>
                  <a:t>camera.yaml</a:t>
                </a:r>
                <a:r>
                  <a:rPr lang="de-DE" dirty="0"/>
                  <a:t> (cameraCalibrator.py)</a:t>
                </a:r>
              </a:p>
              <a:p>
                <a:pPr lvl="3"/>
                <a:endParaRPr lang="de-DE" dirty="0"/>
              </a:p>
              <a:p>
                <a:pPr lvl="3"/>
                <a:r>
                  <a:rPr lang="de-DE" dirty="0"/>
                  <a:t>Intrinsischen Kameraparameter:</a:t>
                </a:r>
              </a:p>
              <a:p>
                <a:pPr lvl="4"/>
                <a:endParaRPr lang="de-DE" dirty="0"/>
              </a:p>
              <a:p>
                <a:pPr lvl="4"/>
                <a:endParaRPr lang="de-DE" dirty="0"/>
              </a:p>
              <a:p>
                <a:pPr lvl="4"/>
                <a:r>
                  <a:rPr lang="de-DE" dirty="0"/>
                  <a:t>Kameramatrix: </a:t>
                </a:r>
                <a14:m>
                  <m:oMath xmlns:m="http://schemas.openxmlformats.org/officeDocument/2006/math">
                    <m:r>
                      <a:rPr lang="de-DE" b="0" i="1" smtClean="0">
                        <a:latin typeface="Cambria Math" panose="02040503050406030204" pitchFamily="18" charset="0"/>
                      </a:rPr>
                      <m:t>𝐾</m:t>
                    </m:r>
                    <m:r>
                      <a:rPr lang="de-DE" b="0" i="1" smtClean="0">
                        <a:latin typeface="Cambria Math" panose="02040503050406030204" pitchFamily="18" charset="0"/>
                      </a:rPr>
                      <m:t>=</m:t>
                    </m:r>
                    <m:d>
                      <m:dPr>
                        <m:begChr m:val="["/>
                        <m:endChr m:val="]"/>
                        <m:ctrlPr>
                          <a:rPr lang="de-DE" b="0" i="1" smtClean="0">
                            <a:latin typeface="Cambria Math"/>
                          </a:rPr>
                        </m:ctrlPr>
                      </m:dPr>
                      <m:e>
                        <m:m>
                          <m:mPr>
                            <m:mcs>
                              <m:mc>
                                <m:mcPr>
                                  <m:count m:val="3"/>
                                  <m:mcJc m:val="center"/>
                                </m:mcPr>
                              </m:mc>
                            </m:mcs>
                            <m:ctrlPr>
                              <a:rPr lang="de-DE" b="0" i="1" smtClean="0">
                                <a:latin typeface="Cambria Math"/>
                              </a:rPr>
                            </m:ctrlPr>
                          </m:mPr>
                          <m:mr>
                            <m:e>
                              <m:r>
                                <m:rPr>
                                  <m:brk m:alnAt="7"/>
                                </m:rPr>
                                <a:rPr lang="de-DE" i="1">
                                  <a:latin typeface="Cambria Math" panose="02040503050406030204" pitchFamily="18" charset="0"/>
                                </a:rPr>
                                <m:t>8</m:t>
                              </m:r>
                              <m:r>
                                <a:rPr lang="de-DE" i="1">
                                  <a:latin typeface="Cambria Math" panose="02040503050406030204" pitchFamily="18" charset="0"/>
                                </a:rPr>
                                <m:t>43.07</m:t>
                              </m:r>
                            </m:e>
                            <m:e>
                              <m:r>
                                <a:rPr lang="de-DE" b="0" i="1" smtClean="0">
                                  <a:latin typeface="Cambria Math" panose="02040503050406030204" pitchFamily="18" charset="0"/>
                                </a:rPr>
                                <m:t>0</m:t>
                              </m:r>
                            </m:e>
                            <m:e>
                              <m:r>
                                <a:rPr lang="de-DE" i="1">
                                  <a:latin typeface="Cambria Math" panose="02040503050406030204" pitchFamily="18" charset="0"/>
                                </a:rPr>
                                <m:t>478.3</m:t>
                              </m:r>
                              <m:r>
                                <a:rPr lang="de-DE" b="0" i="1" smtClean="0">
                                  <a:latin typeface="Cambria Math" panose="02040503050406030204" pitchFamily="18" charset="0"/>
                                </a:rPr>
                                <m:t>9</m:t>
                              </m:r>
                            </m:e>
                          </m:mr>
                          <m:mr>
                            <m:e>
                              <m:r>
                                <a:rPr lang="de-DE" b="0" i="1" smtClean="0">
                                  <a:latin typeface="Cambria Math" panose="02040503050406030204" pitchFamily="18" charset="0"/>
                                </a:rPr>
                                <m:t>0</m:t>
                              </m:r>
                            </m:e>
                            <m:e>
                              <m:r>
                                <a:rPr lang="de-DE" i="1">
                                  <a:latin typeface="Cambria Math" panose="02040503050406030204" pitchFamily="18" charset="0"/>
                                </a:rPr>
                                <m:t>844.2</m:t>
                              </m:r>
                              <m:r>
                                <a:rPr lang="de-DE" b="0" i="1" smtClean="0">
                                  <a:latin typeface="Cambria Math" panose="02040503050406030204" pitchFamily="18" charset="0"/>
                                </a:rPr>
                                <m:t>4</m:t>
                              </m:r>
                            </m:e>
                            <m:e>
                              <m:r>
                                <a:rPr lang="de-DE" i="1">
                                  <a:latin typeface="Cambria Math" panose="02040503050406030204" pitchFamily="18" charset="0"/>
                                </a:rPr>
                                <m:t>333.35</m:t>
                              </m:r>
                            </m:e>
                          </m:mr>
                          <m:mr>
                            <m:e>
                              <m:r>
                                <a:rPr lang="de-DE" b="0" i="1" smtClean="0">
                                  <a:latin typeface="Cambria Math" panose="02040503050406030204" pitchFamily="18" charset="0"/>
                                </a:rPr>
                                <m:t>0</m:t>
                              </m:r>
                            </m:e>
                            <m:e>
                              <m:r>
                                <a:rPr lang="de-DE" b="0" i="1" smtClean="0">
                                  <a:latin typeface="Cambria Math" panose="02040503050406030204" pitchFamily="18" charset="0"/>
                                </a:rPr>
                                <m:t>0</m:t>
                              </m:r>
                            </m:e>
                            <m:e>
                              <m:r>
                                <a:rPr lang="de-DE" b="0" i="1" smtClean="0">
                                  <a:latin typeface="Cambria Math" panose="02040503050406030204" pitchFamily="18" charset="0"/>
                                </a:rPr>
                                <m:t>1</m:t>
                              </m:r>
                            </m:e>
                          </m:mr>
                        </m:m>
                      </m:e>
                    </m:d>
                  </m:oMath>
                </a14:m>
                <a:endParaRPr lang="de-DE" dirty="0"/>
              </a:p>
              <a:p>
                <a:pPr lvl="3"/>
                <a:endParaRPr lang="de-DE" dirty="0"/>
              </a:p>
              <a:p>
                <a:pPr lvl="4"/>
                <a:r>
                  <a:rPr lang="de-DE" dirty="0"/>
                  <a:t>Verzerrungskoeffizienten:  </a:t>
                </a:r>
                <a14:m>
                  <m:oMath xmlns:m="http://schemas.openxmlformats.org/officeDocument/2006/math">
                    <m:sSup>
                      <m:sSupPr>
                        <m:ctrlPr>
                          <a:rPr lang="de-DE" i="1" smtClean="0">
                            <a:latin typeface="Cambria Math"/>
                          </a:rPr>
                        </m:ctrlPr>
                      </m:sSupPr>
                      <m:e>
                        <m:r>
                          <a:rPr lang="de-DE" b="0" i="1" smtClean="0">
                            <a:latin typeface="Cambria Math" panose="02040503050406030204" pitchFamily="18" charset="0"/>
                          </a:rPr>
                          <m:t>𝐷</m:t>
                        </m:r>
                        <m:r>
                          <a:rPr lang="de-DE" b="0" i="1" smtClean="0">
                            <a:latin typeface="Cambria Math" panose="02040503050406030204" pitchFamily="18" charset="0"/>
                          </a:rPr>
                          <m:t>= </m:t>
                        </m:r>
                        <m:d>
                          <m:dPr>
                            <m:begChr m:val="["/>
                            <m:endChr m:val="]"/>
                            <m:ctrlPr>
                              <a:rPr lang="de-DE" i="1">
                                <a:latin typeface="Cambria Math"/>
                              </a:rPr>
                            </m:ctrlPr>
                          </m:dPr>
                          <m:e>
                            <m:m>
                              <m:mPr>
                                <m:mcs>
                                  <m:mc>
                                    <m:mcPr>
                                      <m:count m:val="5"/>
                                      <m:mcJc m:val="center"/>
                                    </m:mcPr>
                                  </m:mc>
                                </m:mcs>
                                <m:ctrlPr>
                                  <a:rPr lang="de-DE" i="1">
                                    <a:latin typeface="Cambria Math"/>
                                  </a:rPr>
                                </m:ctrlPr>
                              </m:mPr>
                              <m:mr>
                                <m:e>
                                  <m:r>
                                    <m:rPr>
                                      <m:brk m:alnAt="7"/>
                                    </m:rPr>
                                    <a:rPr lang="de-DE" i="1">
                                      <a:latin typeface="Cambria Math" panose="02040503050406030204" pitchFamily="18" charset="0"/>
                                    </a:rPr>
                                    <m:t>0</m:t>
                                  </m:r>
                                  <m:r>
                                    <a:rPr lang="de-DE" i="1">
                                      <a:latin typeface="Cambria Math" panose="02040503050406030204" pitchFamily="18" charset="0"/>
                                    </a:rPr>
                                    <m:t>.096</m:t>
                                  </m:r>
                                </m:e>
                                <m:e>
                                  <m:r>
                                    <a:rPr lang="de-DE" i="1">
                                      <a:latin typeface="Cambria Math" panose="02040503050406030204" pitchFamily="18" charset="0"/>
                                    </a:rPr>
                                    <m:t>−0.095</m:t>
                                  </m:r>
                                </m:e>
                                <m:e>
                                  <m:r>
                                    <a:rPr lang="de-DE" i="1">
                                      <a:latin typeface="Cambria Math" panose="02040503050406030204" pitchFamily="18" charset="0"/>
                                    </a:rPr>
                                    <m:t>−0.001</m:t>
                                  </m:r>
                                </m:e>
                                <m:e>
                                  <m:r>
                                    <a:rPr lang="de-DE" i="1">
                                      <a:latin typeface="Cambria Math" panose="02040503050406030204" pitchFamily="18" charset="0"/>
                                    </a:rPr>
                                    <m:t>−0.001</m:t>
                                  </m:r>
                                </m:e>
                                <m:e>
                                  <m:r>
                                    <a:rPr lang="de-DE" i="1">
                                      <a:latin typeface="Cambria Math" panose="02040503050406030204" pitchFamily="18" charset="0"/>
                                    </a:rPr>
                                    <m:t>0</m:t>
                                  </m:r>
                                </m:e>
                              </m:mr>
                            </m:m>
                          </m:e>
                        </m:d>
                      </m:e>
                      <m:sup>
                        <m:r>
                          <a:rPr lang="de-DE" b="0" i="1" smtClean="0">
                            <a:latin typeface="Cambria Math" panose="02040503050406030204" pitchFamily="18" charset="0"/>
                          </a:rPr>
                          <m:t>𝑇</m:t>
                        </m:r>
                      </m:sup>
                    </m:sSup>
                  </m:oMath>
                </a14:m>
                <a:endParaRPr lang="de-DE" dirty="0"/>
              </a:p>
              <a:p>
                <a:pPr lvl="3"/>
                <a:endParaRPr lang="de-DE" dirty="0"/>
              </a:p>
              <a:p>
                <a:pPr lvl="3"/>
                <a:r>
                  <a:rPr lang="de-DE" dirty="0"/>
                  <a:t>Extrinsischen Kameraparameter</a:t>
                </a:r>
              </a:p>
              <a:p>
                <a:pPr lvl="4"/>
                <a:endParaRPr lang="de-DE" dirty="0"/>
              </a:p>
              <a:p>
                <a:pPr lvl="4"/>
                <a:endParaRPr lang="de-DE" dirty="0"/>
              </a:p>
              <a:p>
                <a:pPr lvl="4"/>
                <a:r>
                  <a:rPr lang="de-DE" dirty="0"/>
                  <a:t>Transformationsmatrix: </a:t>
                </a:r>
                <a14:m>
                  <m:oMath xmlns:m="http://schemas.openxmlformats.org/officeDocument/2006/math">
                    <m:r>
                      <a:rPr lang="de-DE" b="0" i="1" smtClean="0">
                        <a:latin typeface="Cambria Math" panose="02040503050406030204" pitchFamily="18" charset="0"/>
                      </a:rPr>
                      <m:t>𝑇</m:t>
                    </m:r>
                    <m:r>
                      <a:rPr lang="de-DE" b="0" i="1" smtClean="0">
                        <a:latin typeface="Cambria Math" panose="02040503050406030204" pitchFamily="18" charset="0"/>
                      </a:rPr>
                      <m:t>= </m:t>
                    </m:r>
                    <m:d>
                      <m:dPr>
                        <m:begChr m:val="["/>
                        <m:endChr m:val="]"/>
                        <m:ctrlPr>
                          <a:rPr lang="de-DE" b="0" i="1" smtClean="0">
                            <a:latin typeface="Cambria Math"/>
                          </a:rPr>
                        </m:ctrlPr>
                      </m:dPr>
                      <m:e>
                        <m:m>
                          <m:mPr>
                            <m:mcs>
                              <m:mc>
                                <m:mcPr>
                                  <m:count m:val="3"/>
                                  <m:mcJc m:val="center"/>
                                </m:mcPr>
                              </m:mc>
                            </m:mcs>
                            <m:ctrlPr>
                              <a:rPr lang="de-DE" b="0" i="1" smtClean="0">
                                <a:latin typeface="Cambria Math"/>
                              </a:rPr>
                            </m:ctrlPr>
                          </m:mPr>
                          <m:mr>
                            <m:e>
                              <m:r>
                                <m:rPr>
                                  <m:brk m:alnAt="7"/>
                                </m:rPr>
                                <a:rPr lang="de-DE" b="0" i="1" smtClean="0">
                                  <a:latin typeface="Cambria Math" panose="02040503050406030204" pitchFamily="18" charset="0"/>
                                </a:rPr>
                                <m:t>1</m:t>
                              </m:r>
                            </m:e>
                            <m:e>
                              <m:r>
                                <a:rPr lang="de-DE" b="0" i="1" smtClean="0">
                                  <a:latin typeface="Cambria Math" panose="02040503050406030204" pitchFamily="18" charset="0"/>
                                </a:rPr>
                                <m:t>0</m:t>
                              </m:r>
                            </m:e>
                            <m:e>
                              <m:r>
                                <a:rPr lang="de-DE" b="0" i="1" smtClean="0">
                                  <a:latin typeface="Cambria Math" panose="02040503050406030204" pitchFamily="18" charset="0"/>
                                </a:rPr>
                                <m:t>0</m:t>
                              </m:r>
                            </m:e>
                          </m:mr>
                          <m:mr>
                            <m:e>
                              <m:r>
                                <a:rPr lang="de-DE" b="0" i="1" smtClean="0">
                                  <a:latin typeface="Cambria Math" panose="02040503050406030204" pitchFamily="18" charset="0"/>
                                </a:rPr>
                                <m:t>0</m:t>
                              </m:r>
                            </m:e>
                            <m:e>
                              <m:r>
                                <a:rPr lang="de-DE" b="0" i="1" smtClean="0">
                                  <a:latin typeface="Cambria Math" panose="02040503050406030204" pitchFamily="18" charset="0"/>
                                </a:rPr>
                                <m:t>1</m:t>
                              </m:r>
                            </m:e>
                            <m:e>
                              <m:r>
                                <a:rPr lang="de-DE" b="0" i="1" smtClean="0">
                                  <a:latin typeface="Cambria Math" panose="02040503050406030204" pitchFamily="18" charset="0"/>
                                </a:rPr>
                                <m:t>0</m:t>
                              </m:r>
                            </m:e>
                          </m:mr>
                          <m:mr>
                            <m:e>
                              <m:r>
                                <a:rPr lang="de-DE" b="0" i="1" smtClean="0">
                                  <a:latin typeface="Cambria Math" panose="02040503050406030204" pitchFamily="18" charset="0"/>
                                </a:rPr>
                                <m:t>0</m:t>
                              </m:r>
                            </m:e>
                            <m:e>
                              <m:r>
                                <a:rPr lang="de-DE" b="0" i="1" smtClean="0">
                                  <a:latin typeface="Cambria Math" panose="02040503050406030204" pitchFamily="18" charset="0"/>
                                </a:rPr>
                                <m:t>0</m:t>
                              </m:r>
                            </m:e>
                            <m:e>
                              <m:r>
                                <a:rPr lang="de-DE" b="0" i="1" smtClean="0">
                                  <a:latin typeface="Cambria Math" panose="02040503050406030204" pitchFamily="18" charset="0"/>
                                </a:rPr>
                                <m:t>1</m:t>
                              </m:r>
                            </m:e>
                          </m:mr>
                        </m:m>
                      </m:e>
                    </m:d>
                  </m:oMath>
                </a14:m>
                <a:endParaRPr lang="de-DE" dirty="0"/>
              </a:p>
            </p:txBody>
          </p:sp>
        </mc:Choice>
        <mc:Fallback xmlns="">
          <p:sp>
            <p:nvSpPr>
              <p:cNvPr id="8" name="Inhaltsplatzhalter 1">
                <a:extLst>
                  <a:ext uri="{FF2B5EF4-FFF2-40B4-BE49-F238E27FC236}">
                    <a16:creationId xmlns:a16="http://schemas.microsoft.com/office/drawing/2014/main" id="{62D6F64F-CEAB-7608-BCBB-1B42FB8DE90A}"/>
                  </a:ext>
                </a:extLst>
              </p:cNvPr>
              <p:cNvSpPr>
                <a:spLocks noGrp="1" noRot="1" noChangeAspect="1" noMove="1" noResize="1" noEditPoints="1" noAdjustHandles="1" noChangeArrowheads="1" noChangeShapeType="1" noTextEdit="1"/>
              </p:cNvSpPr>
              <p:nvPr>
                <p:ph idx="1"/>
              </p:nvPr>
            </p:nvSpPr>
            <p:spPr>
              <a:xfrm>
                <a:off x="1163637" y="1196974"/>
                <a:ext cx="9864725" cy="4899025"/>
              </a:xfrm>
              <a:blipFill>
                <a:blip r:embed="rId3"/>
                <a:stretch>
                  <a:fillRect l="-62" t="-1990"/>
                </a:stretch>
              </a:blipFill>
            </p:spPr>
            <p:txBody>
              <a:bodyPr/>
              <a:lstStyle/>
              <a:p>
                <a:r>
                  <a:rPr lang="de-DE">
                    <a:noFill/>
                  </a:rPr>
                  <a:t> </a:t>
                </a:r>
              </a:p>
            </p:txBody>
          </p:sp>
        </mc:Fallback>
      </mc:AlternateContent>
      <p:sp>
        <p:nvSpPr>
          <p:cNvPr id="2" name="Inhaltsplatzhalter 1">
            <a:extLst>
              <a:ext uri="{FF2B5EF4-FFF2-40B4-BE49-F238E27FC236}">
                <a16:creationId xmlns:a16="http://schemas.microsoft.com/office/drawing/2014/main" xmlns="" id="{E8E44AF3-D98A-1025-4D79-8100EA485CC9}"/>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Rectified_Image_Node</a:t>
            </a:r>
            <a:endParaRPr lang="de-DE" dirty="0"/>
          </a:p>
        </p:txBody>
      </p:sp>
      <p:graphicFrame>
        <p:nvGraphicFramePr>
          <p:cNvPr id="3" name="Diagramm 2">
            <a:extLst>
              <a:ext uri="{FF2B5EF4-FFF2-40B4-BE49-F238E27FC236}">
                <a16:creationId xmlns:a16="http://schemas.microsoft.com/office/drawing/2014/main" xmlns="" id="{37B929A4-8485-9823-7F24-63FC3E5B0BD1}"/>
              </a:ext>
            </a:extLst>
          </p:cNvPr>
          <p:cNvGraphicFramePr/>
          <p:nvPr>
            <p:extLst>
              <p:ext uri="{D42A27DB-BD31-4B8C-83A1-F6EECF244321}">
                <p14:modId xmlns:p14="http://schemas.microsoft.com/office/powerpoint/2010/main" val="2521931642"/>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46430373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4C62F76-E25F-427B-64A4-434827E374DC}"/>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268A47A7-AD16-4312-8570-2D618C839F2F}"/>
              </a:ext>
            </a:extLst>
          </p:cNvPr>
          <p:cNvSpPr>
            <a:spLocks noGrp="1"/>
          </p:cNvSpPr>
          <p:nvPr>
            <p:ph idx="1"/>
          </p:nvPr>
        </p:nvSpPr>
        <p:spPr>
          <a:xfrm>
            <a:off x="1163637" y="1196975"/>
            <a:ext cx="9864725" cy="1819180"/>
          </a:xfrm>
        </p:spPr>
        <p:txBody>
          <a:bodyPr/>
          <a:lstStyle/>
          <a:p>
            <a:pPr lvl="3"/>
            <a:r>
              <a:rPr lang="de-DE" dirty="0"/>
              <a:t>Berechnung der Mapping-Tabellen für die Entzerrung -&gt; </a:t>
            </a:r>
            <a:r>
              <a:rPr lang="de-DE" i="1" dirty="0" err="1"/>
              <a:t>initUndistortRectifyMap</a:t>
            </a:r>
            <a:r>
              <a:rPr lang="de-DE" i="1" dirty="0"/>
              <a:t>()</a:t>
            </a:r>
          </a:p>
          <a:p>
            <a:pPr lvl="3"/>
            <a:endParaRPr lang="de-DE" dirty="0"/>
          </a:p>
          <a:p>
            <a:pPr lvl="3"/>
            <a:r>
              <a:rPr lang="de-DE" dirty="0"/>
              <a:t>Verwendung einer Funktion zur Entzerrung -&gt; </a:t>
            </a:r>
            <a:r>
              <a:rPr lang="de-DE" i="1" dirty="0" err="1"/>
              <a:t>remap</a:t>
            </a:r>
            <a:r>
              <a:rPr lang="de-DE" i="1" dirty="0"/>
              <a:t>()</a:t>
            </a:r>
          </a:p>
          <a:p>
            <a:pPr lvl="3"/>
            <a:endParaRPr lang="de-DE" dirty="0"/>
          </a:p>
          <a:p>
            <a:pPr lvl="3"/>
            <a:r>
              <a:rPr lang="de-DE" dirty="0"/>
              <a:t>Veröffentlichung des entzerrten Bildes für weitere Verarbeitungsschritte</a:t>
            </a:r>
          </a:p>
        </p:txBody>
      </p:sp>
      <p:pic>
        <p:nvPicPr>
          <p:cNvPr id="9" name="Bild 8">
            <a:extLst>
              <a:ext uri="{FF2B5EF4-FFF2-40B4-BE49-F238E27FC236}">
                <a16:creationId xmlns:a16="http://schemas.microsoft.com/office/drawing/2014/main" xmlns="" id="{FA46675F-5DD2-A060-0859-8AB08000DFE4}"/>
              </a:ext>
            </a:extLst>
          </p:cNvPr>
          <p:cNvPicPr>
            <a:picLocks noChangeAspect="1"/>
          </p:cNvPicPr>
          <p:nvPr/>
        </p:nvPicPr>
        <p:blipFill>
          <a:blip r:embed="rId3"/>
          <a:srcRect/>
          <a:stretch/>
        </p:blipFill>
        <p:spPr>
          <a:xfrm>
            <a:off x="1821032" y="3188038"/>
            <a:ext cx="3519339" cy="2620606"/>
          </a:xfrm>
          <a:prstGeom prst="rect">
            <a:avLst/>
          </a:prstGeom>
        </p:spPr>
      </p:pic>
      <p:pic>
        <p:nvPicPr>
          <p:cNvPr id="10" name="Bild 9">
            <a:extLst>
              <a:ext uri="{FF2B5EF4-FFF2-40B4-BE49-F238E27FC236}">
                <a16:creationId xmlns:a16="http://schemas.microsoft.com/office/drawing/2014/main" xmlns="" id="{04E4F9C9-7C56-29E7-B478-0BB1174776EB}"/>
              </a:ext>
            </a:extLst>
          </p:cNvPr>
          <p:cNvPicPr>
            <a:picLocks noChangeAspect="1"/>
          </p:cNvPicPr>
          <p:nvPr/>
        </p:nvPicPr>
        <p:blipFill>
          <a:blip r:embed="rId4"/>
          <a:srcRect/>
          <a:stretch/>
        </p:blipFill>
        <p:spPr>
          <a:xfrm>
            <a:off x="6802673" y="3188038"/>
            <a:ext cx="3617250" cy="2620606"/>
          </a:xfrm>
          <a:prstGeom prst="rect">
            <a:avLst/>
          </a:prstGeom>
        </p:spPr>
      </p:pic>
      <p:sp>
        <p:nvSpPr>
          <p:cNvPr id="11" name="Inhaltsplatzhalter 1">
            <a:extLst>
              <a:ext uri="{FF2B5EF4-FFF2-40B4-BE49-F238E27FC236}">
                <a16:creationId xmlns:a16="http://schemas.microsoft.com/office/drawing/2014/main" xmlns="" id="{3342D17C-7BE5-FB0E-3126-C22B5CA15C5B}"/>
              </a:ext>
            </a:extLst>
          </p:cNvPr>
          <p:cNvSpPr txBox="1">
            <a:spLocks/>
          </p:cNvSpPr>
          <p:nvPr/>
        </p:nvSpPr>
        <p:spPr>
          <a:xfrm>
            <a:off x="1821032" y="5934456"/>
            <a:ext cx="4846828"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Schachbrettmuster vor der Entzerrung</a:t>
            </a:r>
          </a:p>
        </p:txBody>
      </p:sp>
      <p:sp>
        <p:nvSpPr>
          <p:cNvPr id="12" name="Inhaltsplatzhalter 1">
            <a:extLst>
              <a:ext uri="{FF2B5EF4-FFF2-40B4-BE49-F238E27FC236}">
                <a16:creationId xmlns:a16="http://schemas.microsoft.com/office/drawing/2014/main" xmlns="" id="{36BEA45E-6059-79B1-057C-45D2DEA92DA8}"/>
              </a:ext>
            </a:extLst>
          </p:cNvPr>
          <p:cNvSpPr txBox="1">
            <a:spLocks/>
          </p:cNvSpPr>
          <p:nvPr/>
        </p:nvSpPr>
        <p:spPr>
          <a:xfrm>
            <a:off x="6802673" y="5934456"/>
            <a:ext cx="4846828"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Schachbrettmuster nach der Entzerrung</a:t>
            </a:r>
          </a:p>
        </p:txBody>
      </p:sp>
      <p:sp>
        <p:nvSpPr>
          <p:cNvPr id="2" name="Inhaltsplatzhalter 1">
            <a:extLst>
              <a:ext uri="{FF2B5EF4-FFF2-40B4-BE49-F238E27FC236}">
                <a16:creationId xmlns:a16="http://schemas.microsoft.com/office/drawing/2014/main" xmlns="" id="{720ECF5B-34F8-68D8-6392-EE3BD42C6D4E}"/>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6"/>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Rectified_Image_Node</a:t>
            </a:r>
            <a:endParaRPr lang="de-DE" dirty="0"/>
          </a:p>
        </p:txBody>
      </p:sp>
      <p:graphicFrame>
        <p:nvGraphicFramePr>
          <p:cNvPr id="3" name="Diagramm 2">
            <a:extLst>
              <a:ext uri="{FF2B5EF4-FFF2-40B4-BE49-F238E27FC236}">
                <a16:creationId xmlns:a16="http://schemas.microsoft.com/office/drawing/2014/main" xmlns="" id="{0C2760E7-8E0A-289D-8716-F86CD5A4CA94}"/>
              </a:ext>
            </a:extLst>
          </p:cNvPr>
          <p:cNvGraphicFramePr/>
          <p:nvPr>
            <p:extLst>
              <p:ext uri="{D42A27DB-BD31-4B8C-83A1-F6EECF244321}">
                <p14:modId xmlns:p14="http://schemas.microsoft.com/office/powerpoint/2010/main" val="1452839601"/>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96665047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DEBAAF4-2293-7C82-D8E5-514FEEFF23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Inhaltsplatzhalter 1">
                <a:extLst>
                  <a:ext uri="{FF2B5EF4-FFF2-40B4-BE49-F238E27FC236}">
                    <a16:creationId xmlns:a16="http://schemas.microsoft.com/office/drawing/2014/main" xmlns="" id="{D72A784D-0CFF-77F9-99E0-7D6D4943C47F}"/>
                  </a:ext>
                </a:extLst>
              </p:cNvPr>
              <p:cNvSpPr>
                <a:spLocks noGrp="1"/>
              </p:cNvSpPr>
              <p:nvPr>
                <p:ph idx="1"/>
              </p:nvPr>
            </p:nvSpPr>
            <p:spPr>
              <a:xfrm>
                <a:off x="1163637" y="1196975"/>
                <a:ext cx="9864725" cy="4485908"/>
              </a:xfrm>
            </p:spPr>
            <p:txBody>
              <a:bodyPr/>
              <a:lstStyle/>
              <a:p>
                <a:pPr lvl="3"/>
                <a:r>
                  <a:rPr lang="de-DE" dirty="0"/>
                  <a:t>Erstellung des Bildes in der Vogelperspektive</a:t>
                </a:r>
              </a:p>
              <a:p>
                <a:pPr lvl="3"/>
                <a:endParaRPr lang="de-DE" dirty="0"/>
              </a:p>
              <a:p>
                <a:pPr lvl="3"/>
                <a:endParaRPr lang="de-DE" dirty="0"/>
              </a:p>
              <a:p>
                <a:pPr lvl="3"/>
                <a:r>
                  <a:rPr lang="de-DE" dirty="0"/>
                  <a:t>Abonniert das entzerrte Bild und berechnet eine Perspektivtransformation</a:t>
                </a:r>
              </a:p>
              <a:p>
                <a:pPr lvl="3"/>
                <a:endParaRPr lang="de-DE" dirty="0"/>
              </a:p>
              <a:p>
                <a:pPr lvl="3"/>
                <a:endParaRPr lang="de-DE" dirty="0"/>
              </a:p>
              <a:p>
                <a:pPr lvl="3"/>
                <a:r>
                  <a:rPr lang="de-DE" dirty="0"/>
                  <a:t>Nutzt eine Homographie-Matrix, um das Bild in eine Draufsicht zu konvertieren</a:t>
                </a:r>
              </a:p>
              <a:p>
                <a:pPr lvl="3"/>
                <a:endParaRPr lang="de-DE" dirty="0"/>
              </a:p>
              <a:p>
                <a:pPr lvl="3"/>
                <a:endParaRPr lang="de-DE" dirty="0"/>
              </a:p>
              <a:p>
                <a:pPr lvl="3"/>
                <a:endParaRPr lang="de-DE" dirty="0"/>
              </a:p>
              <a:p>
                <a:pPr lvl="3"/>
                <a:r>
                  <a:rPr lang="de-DE" dirty="0" err="1"/>
                  <a:t>Homographiematrix</a:t>
                </a:r>
                <a:r>
                  <a:rPr lang="de-DE" dirty="0"/>
                  <a:t>: </a:t>
                </a:r>
                <a14:m>
                  <m:oMath xmlns:m="http://schemas.openxmlformats.org/officeDocument/2006/math">
                    <m:r>
                      <a:rPr lang="de-DE" b="0" i="1" smtClean="0">
                        <a:latin typeface="Cambria Math" panose="02040503050406030204" pitchFamily="18" charset="0"/>
                      </a:rPr>
                      <m:t>𝐻</m:t>
                    </m:r>
                    <m:r>
                      <a:rPr lang="de-DE" b="0" i="1" smtClean="0">
                        <a:latin typeface="Cambria Math" panose="02040503050406030204" pitchFamily="18" charset="0"/>
                      </a:rPr>
                      <m:t>= </m:t>
                    </m:r>
                    <m:d>
                      <m:dPr>
                        <m:begChr m:val="["/>
                        <m:endChr m:val="]"/>
                        <m:ctrlPr>
                          <a:rPr lang="de-DE" b="0" i="1" smtClean="0">
                            <a:latin typeface="Cambria Math"/>
                          </a:rPr>
                        </m:ctrlPr>
                      </m:dPr>
                      <m:e>
                        <m:m>
                          <m:mPr>
                            <m:mcs>
                              <m:mc>
                                <m:mcPr>
                                  <m:count m:val="3"/>
                                  <m:mcJc m:val="center"/>
                                </m:mcPr>
                              </m:mc>
                            </m:mcs>
                            <m:ctrlPr>
                              <a:rPr lang="de-DE" b="0" i="1" smtClean="0">
                                <a:latin typeface="Cambria Math"/>
                              </a:rPr>
                            </m:ctrlPr>
                          </m:mPr>
                          <m:mr>
                            <m:e>
                              <m:r>
                                <m:rPr>
                                  <m:brk m:alnAt="7"/>
                                </m:rPr>
                                <a:rPr lang="de-DE" i="1">
                                  <a:latin typeface="Cambria Math" panose="02040503050406030204" pitchFamily="18" charset="0"/>
                                </a:rPr>
                                <m:t>−</m:t>
                              </m:r>
                              <m:r>
                                <a:rPr lang="de-DE" i="1">
                                  <a:latin typeface="Cambria Math" panose="02040503050406030204" pitchFamily="18" charset="0"/>
                                </a:rPr>
                                <m:t>0.704</m:t>
                              </m:r>
                              <m:r>
                                <a:rPr lang="de-DE" b="0" i="1" smtClean="0">
                                  <a:latin typeface="Cambria Math" panose="02040503050406030204" pitchFamily="18" charset="0"/>
                                </a:rPr>
                                <m:t>2</m:t>
                              </m:r>
                            </m:e>
                            <m:e>
                              <m:r>
                                <a:rPr lang="de-DE" i="1">
                                  <a:latin typeface="Cambria Math" panose="02040503050406030204" pitchFamily="18" charset="0"/>
                                </a:rPr>
                                <m:t>−1.449</m:t>
                              </m:r>
                              <m:r>
                                <a:rPr lang="de-DE" b="0" i="1" smtClean="0">
                                  <a:latin typeface="Cambria Math" panose="02040503050406030204" pitchFamily="18" charset="0"/>
                                </a:rPr>
                                <m:t>9</m:t>
                              </m:r>
                            </m:e>
                            <m:e>
                              <m:r>
                                <a:rPr lang="de-DE" i="1">
                                  <a:latin typeface="Cambria Math" panose="02040503050406030204" pitchFamily="18" charset="0"/>
                                </a:rPr>
                                <m:t>806.9</m:t>
                              </m:r>
                              <m:r>
                                <a:rPr lang="de-DE" b="0" i="1" smtClean="0">
                                  <a:latin typeface="Cambria Math" panose="02040503050406030204" pitchFamily="18" charset="0"/>
                                </a:rPr>
                                <m:t>8</m:t>
                              </m:r>
                            </m:e>
                          </m:mr>
                          <m:mr>
                            <m:e>
                              <m:r>
                                <a:rPr lang="de-DE" i="1">
                                  <a:latin typeface="Cambria Math" panose="02040503050406030204" pitchFamily="18" charset="0"/>
                                </a:rPr>
                                <m:t>0.026</m:t>
                              </m:r>
                              <m:r>
                                <a:rPr lang="de-DE" b="0" i="1" smtClean="0">
                                  <a:latin typeface="Cambria Math" panose="02040503050406030204" pitchFamily="18" charset="0"/>
                                </a:rPr>
                                <m:t>8</m:t>
                              </m:r>
                            </m:e>
                            <m:e>
                              <m:r>
                                <a:rPr lang="de-DE" i="1">
                                  <a:latin typeface="Cambria Math" panose="02040503050406030204" pitchFamily="18" charset="0"/>
                                </a:rPr>
                                <m:t>−3.7679</m:t>
                              </m:r>
                            </m:e>
                            <m:e>
                              <m:r>
                                <a:rPr lang="de-DE" i="1">
                                  <a:latin typeface="Cambria Math" panose="02040503050406030204" pitchFamily="18" charset="0"/>
                                </a:rPr>
                                <m:t>1825.2</m:t>
                              </m:r>
                            </m:e>
                          </m:mr>
                          <m:mr>
                            <m:e>
                              <m:r>
                                <a:rPr lang="de-DE" i="1">
                                  <a:latin typeface="Cambria Math" panose="02040503050406030204" pitchFamily="18" charset="0"/>
                                </a:rPr>
                                <m:t>1.622</m:t>
                              </m:r>
                              <m:r>
                                <a:rPr lang="de-DE" b="0" i="1" smtClean="0">
                                  <a:latin typeface="Cambria Math" panose="02040503050406030204" pitchFamily="18" charset="0"/>
                                </a:rPr>
                                <m:t>5</m:t>
                              </m:r>
                            </m:e>
                            <m:e>
                              <m:r>
                                <a:rPr lang="de-DE" i="1">
                                  <a:latin typeface="Cambria Math" panose="02040503050406030204" pitchFamily="18" charset="0"/>
                                </a:rPr>
                                <m:t>−0.003</m:t>
                              </m:r>
                              <m:r>
                                <a:rPr lang="de-DE" b="0" i="1" smtClean="0">
                                  <a:latin typeface="Cambria Math" panose="02040503050406030204" pitchFamily="18" charset="0"/>
                                </a:rPr>
                                <m:t>1</m:t>
                              </m:r>
                            </m:e>
                            <m:e>
                              <m:r>
                                <a:rPr lang="de-DE" b="0" i="1" smtClean="0">
                                  <a:latin typeface="Cambria Math" panose="02040503050406030204" pitchFamily="18" charset="0"/>
                                </a:rPr>
                                <m:t>1</m:t>
                              </m:r>
                            </m:e>
                          </m:mr>
                        </m:m>
                      </m:e>
                    </m:d>
                  </m:oMath>
                </a14:m>
                <a:endParaRPr lang="de-DE" dirty="0"/>
              </a:p>
            </p:txBody>
          </p:sp>
        </mc:Choice>
        <mc:Fallback xmlns="">
          <p:sp>
            <p:nvSpPr>
              <p:cNvPr id="8" name="Inhaltsplatzhalter 1">
                <a:extLst>
                  <a:ext uri="{FF2B5EF4-FFF2-40B4-BE49-F238E27FC236}">
                    <a16:creationId xmlns:a16="http://schemas.microsoft.com/office/drawing/2014/main" id="{D72A784D-0CFF-77F9-99E0-7D6D4943C47F}"/>
                  </a:ext>
                </a:extLst>
              </p:cNvPr>
              <p:cNvSpPr>
                <a:spLocks noGrp="1" noRot="1" noChangeAspect="1" noMove="1" noResize="1" noEditPoints="1" noAdjustHandles="1" noChangeArrowheads="1" noChangeShapeType="1" noTextEdit="1"/>
              </p:cNvSpPr>
              <p:nvPr>
                <p:ph idx="1"/>
              </p:nvPr>
            </p:nvSpPr>
            <p:spPr>
              <a:xfrm>
                <a:off x="1163637" y="1196975"/>
                <a:ext cx="9864725" cy="4485908"/>
              </a:xfrm>
              <a:blipFill>
                <a:blip r:embed="rId3"/>
                <a:stretch>
                  <a:fillRect l="-62" t="-2174"/>
                </a:stretch>
              </a:blipFill>
            </p:spPr>
            <p:txBody>
              <a:bodyPr/>
              <a:lstStyle/>
              <a:p>
                <a:r>
                  <a:rPr lang="de-DE">
                    <a:noFill/>
                  </a:rPr>
                  <a:t> </a:t>
                </a:r>
              </a:p>
            </p:txBody>
          </p:sp>
        </mc:Fallback>
      </mc:AlternateContent>
      <p:sp>
        <p:nvSpPr>
          <p:cNvPr id="2" name="Inhaltsplatzhalter 1">
            <a:extLst>
              <a:ext uri="{FF2B5EF4-FFF2-40B4-BE49-F238E27FC236}">
                <a16:creationId xmlns:a16="http://schemas.microsoft.com/office/drawing/2014/main" xmlns="" id="{7F5937D7-AB25-512D-D5A0-E1022E4275CF}"/>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Birdseye_Node</a:t>
            </a:r>
            <a:endParaRPr lang="de-DE" dirty="0"/>
          </a:p>
        </p:txBody>
      </p:sp>
      <p:graphicFrame>
        <p:nvGraphicFramePr>
          <p:cNvPr id="4" name="Diagramm 3">
            <a:extLst>
              <a:ext uri="{FF2B5EF4-FFF2-40B4-BE49-F238E27FC236}">
                <a16:creationId xmlns:a16="http://schemas.microsoft.com/office/drawing/2014/main" xmlns="" id="{2EC7C8AA-5D1F-3AD0-4FEA-8115238544BF}"/>
              </a:ext>
            </a:extLst>
          </p:cNvPr>
          <p:cNvGraphicFramePr/>
          <p:nvPr>
            <p:extLst>
              <p:ext uri="{D42A27DB-BD31-4B8C-83A1-F6EECF244321}">
                <p14:modId xmlns:p14="http://schemas.microsoft.com/office/powerpoint/2010/main" val="624693240"/>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32025520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3D6BE88-8332-425D-2112-2EE9E5A248DE}"/>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EC5C176B-A6F6-B7F5-1293-F55FBF912F5A}"/>
              </a:ext>
            </a:extLst>
          </p:cNvPr>
          <p:cNvSpPr>
            <a:spLocks noGrp="1"/>
          </p:cNvSpPr>
          <p:nvPr>
            <p:ph idx="1"/>
          </p:nvPr>
        </p:nvSpPr>
        <p:spPr>
          <a:xfrm>
            <a:off x="1163637" y="1196975"/>
            <a:ext cx="9864725" cy="1819180"/>
          </a:xfrm>
        </p:spPr>
        <p:txBody>
          <a:bodyPr/>
          <a:lstStyle/>
          <a:p>
            <a:pPr lvl="3"/>
            <a:r>
              <a:rPr lang="de-DE" dirty="0"/>
              <a:t>Bestimmung der Homographie-Matrix mit einem Schachbrett</a:t>
            </a:r>
          </a:p>
          <a:p>
            <a:pPr lvl="3"/>
            <a:endParaRPr lang="de-DE" dirty="0"/>
          </a:p>
          <a:p>
            <a:pPr lvl="3"/>
            <a:r>
              <a:rPr lang="de-DE" dirty="0"/>
              <a:t>Homographie-Matrix berechnet sich mit Objekt- und Bildpunkten -&gt; </a:t>
            </a:r>
            <a:r>
              <a:rPr lang="de-DE" i="1" dirty="0" err="1"/>
              <a:t>getPerspectiveTransform</a:t>
            </a:r>
            <a:r>
              <a:rPr lang="de-DE" i="1" dirty="0"/>
              <a:t>()</a:t>
            </a:r>
          </a:p>
          <a:p>
            <a:pPr lvl="3"/>
            <a:endParaRPr lang="de-DE" i="1" dirty="0"/>
          </a:p>
          <a:p>
            <a:pPr lvl="3"/>
            <a:r>
              <a:rPr lang="de-DE" dirty="0"/>
              <a:t>Transformation des Bildes -&gt; </a:t>
            </a:r>
            <a:r>
              <a:rPr lang="de-DE" i="1" dirty="0" err="1"/>
              <a:t>warpPerspective</a:t>
            </a:r>
            <a:r>
              <a:rPr lang="de-DE" i="1" dirty="0"/>
              <a:t>()</a:t>
            </a:r>
          </a:p>
          <a:p>
            <a:pPr marL="0" lvl="3" indent="0">
              <a:buNone/>
            </a:pPr>
            <a:endParaRPr lang="de-DE" i="1" dirty="0"/>
          </a:p>
        </p:txBody>
      </p:sp>
      <p:pic>
        <p:nvPicPr>
          <p:cNvPr id="9" name="Bild 8">
            <a:extLst>
              <a:ext uri="{FF2B5EF4-FFF2-40B4-BE49-F238E27FC236}">
                <a16:creationId xmlns:a16="http://schemas.microsoft.com/office/drawing/2014/main" xmlns="" id="{AF7BD882-3A26-A82F-6B08-F59E75996D02}"/>
              </a:ext>
            </a:extLst>
          </p:cNvPr>
          <p:cNvPicPr>
            <a:picLocks noChangeAspect="1"/>
          </p:cNvPicPr>
          <p:nvPr/>
        </p:nvPicPr>
        <p:blipFill>
          <a:blip r:embed="rId3"/>
          <a:srcRect/>
          <a:stretch/>
        </p:blipFill>
        <p:spPr>
          <a:xfrm>
            <a:off x="1919949" y="3188038"/>
            <a:ext cx="3321505" cy="2620606"/>
          </a:xfrm>
          <a:prstGeom prst="rect">
            <a:avLst/>
          </a:prstGeom>
        </p:spPr>
      </p:pic>
      <p:pic>
        <p:nvPicPr>
          <p:cNvPr id="10" name="Bild 9">
            <a:extLst>
              <a:ext uri="{FF2B5EF4-FFF2-40B4-BE49-F238E27FC236}">
                <a16:creationId xmlns:a16="http://schemas.microsoft.com/office/drawing/2014/main" xmlns="" id="{56F8E4AE-09B4-2F29-402D-6CF2AD7657CA}"/>
              </a:ext>
            </a:extLst>
          </p:cNvPr>
          <p:cNvPicPr>
            <a:picLocks noChangeAspect="1"/>
          </p:cNvPicPr>
          <p:nvPr/>
        </p:nvPicPr>
        <p:blipFill>
          <a:blip r:embed="rId4"/>
          <a:srcRect/>
          <a:stretch/>
        </p:blipFill>
        <p:spPr>
          <a:xfrm>
            <a:off x="6950545" y="3188038"/>
            <a:ext cx="3321505" cy="2620606"/>
          </a:xfrm>
          <a:prstGeom prst="rect">
            <a:avLst/>
          </a:prstGeom>
        </p:spPr>
      </p:pic>
      <p:sp>
        <p:nvSpPr>
          <p:cNvPr id="11" name="Inhaltsplatzhalter 1">
            <a:extLst>
              <a:ext uri="{FF2B5EF4-FFF2-40B4-BE49-F238E27FC236}">
                <a16:creationId xmlns:a16="http://schemas.microsoft.com/office/drawing/2014/main" xmlns="" id="{426D2884-2047-310A-BBDE-4946657C0717}"/>
              </a:ext>
            </a:extLst>
          </p:cNvPr>
          <p:cNvSpPr txBox="1">
            <a:spLocks/>
          </p:cNvSpPr>
          <p:nvPr/>
        </p:nvSpPr>
        <p:spPr>
          <a:xfrm>
            <a:off x="2204486" y="5934456"/>
            <a:ext cx="2864471" cy="249019"/>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Punkte vor der Transformation</a:t>
            </a:r>
          </a:p>
        </p:txBody>
      </p:sp>
      <p:sp>
        <p:nvSpPr>
          <p:cNvPr id="12" name="Inhaltsplatzhalter 1">
            <a:extLst>
              <a:ext uri="{FF2B5EF4-FFF2-40B4-BE49-F238E27FC236}">
                <a16:creationId xmlns:a16="http://schemas.microsoft.com/office/drawing/2014/main" xmlns="" id="{25430DBE-2F8D-F237-6110-53781965DD61}"/>
              </a:ext>
            </a:extLst>
          </p:cNvPr>
          <p:cNvSpPr txBox="1">
            <a:spLocks/>
          </p:cNvSpPr>
          <p:nvPr/>
        </p:nvSpPr>
        <p:spPr>
          <a:xfrm>
            <a:off x="7123045" y="5934455"/>
            <a:ext cx="2994492" cy="24901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Punkte nach der Transformation</a:t>
            </a:r>
          </a:p>
        </p:txBody>
      </p:sp>
      <p:sp>
        <p:nvSpPr>
          <p:cNvPr id="2" name="Inhaltsplatzhalter 1">
            <a:extLst>
              <a:ext uri="{FF2B5EF4-FFF2-40B4-BE49-F238E27FC236}">
                <a16:creationId xmlns:a16="http://schemas.microsoft.com/office/drawing/2014/main" xmlns="" id="{366B1161-D869-70C4-ED07-AC31F1D27C0E}"/>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6"/>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Birdseye_Node</a:t>
            </a:r>
            <a:endParaRPr lang="de-DE" dirty="0"/>
          </a:p>
        </p:txBody>
      </p:sp>
      <p:graphicFrame>
        <p:nvGraphicFramePr>
          <p:cNvPr id="3" name="Diagramm 2">
            <a:extLst>
              <a:ext uri="{FF2B5EF4-FFF2-40B4-BE49-F238E27FC236}">
                <a16:creationId xmlns:a16="http://schemas.microsoft.com/office/drawing/2014/main" xmlns="" id="{EBCC15B5-C4EF-1AA0-906F-B739948FF6D4}"/>
              </a:ext>
            </a:extLst>
          </p:cNvPr>
          <p:cNvGraphicFramePr/>
          <p:nvPr>
            <p:extLst>
              <p:ext uri="{D42A27DB-BD31-4B8C-83A1-F6EECF244321}">
                <p14:modId xmlns:p14="http://schemas.microsoft.com/office/powerpoint/2010/main" val="361903148"/>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25663638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13A9E8E-557B-DA9B-4ABF-840CC64EDE44}"/>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C0AED2F6-18D1-17DE-770B-1CB58759136F}"/>
              </a:ext>
            </a:extLst>
          </p:cNvPr>
          <p:cNvSpPr>
            <a:spLocks noGrp="1"/>
          </p:cNvSpPr>
          <p:nvPr>
            <p:ph idx="1"/>
          </p:nvPr>
        </p:nvSpPr>
        <p:spPr>
          <a:xfrm>
            <a:off x="1163637" y="1196975"/>
            <a:ext cx="9864725" cy="1819180"/>
          </a:xfrm>
        </p:spPr>
        <p:txBody>
          <a:bodyPr/>
          <a:lstStyle/>
          <a:p>
            <a:pPr lvl="3"/>
            <a:r>
              <a:rPr lang="de-DE" dirty="0"/>
              <a:t>Es wird auf einen wichtigen Bereich eingestellt</a:t>
            </a:r>
          </a:p>
          <a:p>
            <a:pPr lvl="3"/>
            <a:endParaRPr lang="de-DE" dirty="0"/>
          </a:p>
          <a:p>
            <a:pPr lvl="3"/>
            <a:r>
              <a:rPr lang="de-DE" dirty="0"/>
              <a:t>Der irrelevante Bereich wird ausgegraut</a:t>
            </a:r>
          </a:p>
          <a:p>
            <a:pPr lvl="3"/>
            <a:endParaRPr lang="de-DE" dirty="0"/>
          </a:p>
          <a:p>
            <a:pPr lvl="3"/>
            <a:r>
              <a:rPr lang="de-DE" dirty="0"/>
              <a:t>Veröffentlichung des transformierten Bildes für nachfolgende Verarbeitungsschritte</a:t>
            </a:r>
          </a:p>
        </p:txBody>
      </p:sp>
      <p:pic>
        <p:nvPicPr>
          <p:cNvPr id="9" name="Bild 8">
            <a:extLst>
              <a:ext uri="{FF2B5EF4-FFF2-40B4-BE49-F238E27FC236}">
                <a16:creationId xmlns:a16="http://schemas.microsoft.com/office/drawing/2014/main" xmlns="" id="{BC7E2FCE-AACA-242C-5608-9AC5215CE430}"/>
              </a:ext>
            </a:extLst>
          </p:cNvPr>
          <p:cNvPicPr>
            <a:picLocks noChangeAspect="1"/>
          </p:cNvPicPr>
          <p:nvPr/>
        </p:nvPicPr>
        <p:blipFill>
          <a:blip r:embed="rId3"/>
          <a:srcRect/>
          <a:stretch/>
        </p:blipFill>
        <p:spPr>
          <a:xfrm>
            <a:off x="1919949" y="3188038"/>
            <a:ext cx="3321505" cy="2620606"/>
          </a:xfrm>
          <a:prstGeom prst="rect">
            <a:avLst/>
          </a:prstGeom>
        </p:spPr>
      </p:pic>
      <p:pic>
        <p:nvPicPr>
          <p:cNvPr id="10" name="Bild 9">
            <a:extLst>
              <a:ext uri="{FF2B5EF4-FFF2-40B4-BE49-F238E27FC236}">
                <a16:creationId xmlns:a16="http://schemas.microsoft.com/office/drawing/2014/main" xmlns="" id="{017995A1-B727-672F-A98E-C177B1946BD8}"/>
              </a:ext>
            </a:extLst>
          </p:cNvPr>
          <p:cNvPicPr>
            <a:picLocks noChangeAspect="1"/>
          </p:cNvPicPr>
          <p:nvPr/>
        </p:nvPicPr>
        <p:blipFill>
          <a:blip r:embed="rId4"/>
          <a:srcRect/>
          <a:stretch/>
        </p:blipFill>
        <p:spPr>
          <a:xfrm>
            <a:off x="6950545" y="3188038"/>
            <a:ext cx="3321505" cy="2620606"/>
          </a:xfrm>
          <a:prstGeom prst="rect">
            <a:avLst/>
          </a:prstGeom>
        </p:spPr>
      </p:pic>
      <p:sp>
        <p:nvSpPr>
          <p:cNvPr id="11" name="Inhaltsplatzhalter 1">
            <a:extLst>
              <a:ext uri="{FF2B5EF4-FFF2-40B4-BE49-F238E27FC236}">
                <a16:creationId xmlns:a16="http://schemas.microsoft.com/office/drawing/2014/main" xmlns="" id="{FFC4839D-F3BD-5565-3B4D-45A23B05BC30}"/>
              </a:ext>
            </a:extLst>
          </p:cNvPr>
          <p:cNvSpPr txBox="1">
            <a:spLocks/>
          </p:cNvSpPr>
          <p:nvPr/>
        </p:nvSpPr>
        <p:spPr>
          <a:xfrm>
            <a:off x="2411852" y="5934456"/>
            <a:ext cx="2337697"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Fahrbahn in Originalsicht</a:t>
            </a:r>
          </a:p>
        </p:txBody>
      </p:sp>
      <p:sp>
        <p:nvSpPr>
          <p:cNvPr id="12" name="Inhaltsplatzhalter 1">
            <a:extLst>
              <a:ext uri="{FF2B5EF4-FFF2-40B4-BE49-F238E27FC236}">
                <a16:creationId xmlns:a16="http://schemas.microsoft.com/office/drawing/2014/main" xmlns="" id="{FDDC94A4-4563-2E1D-B4F3-E96EEA2D294B}"/>
              </a:ext>
            </a:extLst>
          </p:cNvPr>
          <p:cNvSpPr txBox="1">
            <a:spLocks/>
          </p:cNvSpPr>
          <p:nvPr/>
        </p:nvSpPr>
        <p:spPr>
          <a:xfrm>
            <a:off x="7049446" y="5934456"/>
            <a:ext cx="3123701"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Fahrbahn in der Vogelperspektive</a:t>
            </a:r>
          </a:p>
        </p:txBody>
      </p:sp>
      <p:sp>
        <p:nvSpPr>
          <p:cNvPr id="2" name="Inhaltsplatzhalter 1">
            <a:extLst>
              <a:ext uri="{FF2B5EF4-FFF2-40B4-BE49-F238E27FC236}">
                <a16:creationId xmlns:a16="http://schemas.microsoft.com/office/drawing/2014/main" xmlns="" id="{07D8AACE-ED21-9EB0-5AC8-3ECB9D9CF158}"/>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6"/>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Birdseye_Node</a:t>
            </a:r>
            <a:endParaRPr lang="de-DE" dirty="0"/>
          </a:p>
        </p:txBody>
      </p:sp>
      <p:graphicFrame>
        <p:nvGraphicFramePr>
          <p:cNvPr id="3" name="Diagramm 2">
            <a:extLst>
              <a:ext uri="{FF2B5EF4-FFF2-40B4-BE49-F238E27FC236}">
                <a16:creationId xmlns:a16="http://schemas.microsoft.com/office/drawing/2014/main" xmlns="" id="{C0E4798E-A6AA-0338-02BD-C575371877FD}"/>
              </a:ext>
            </a:extLst>
          </p:cNvPr>
          <p:cNvGraphicFramePr/>
          <p:nvPr>
            <p:extLst>
              <p:ext uri="{D42A27DB-BD31-4B8C-83A1-F6EECF244321}">
                <p14:modId xmlns:p14="http://schemas.microsoft.com/office/powerpoint/2010/main" val="1799751698"/>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14644021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43F35DC-BB87-4388-927A-07A381ED13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Inhaltsplatzhalter 1">
                <a:extLst>
                  <a:ext uri="{FF2B5EF4-FFF2-40B4-BE49-F238E27FC236}">
                    <a16:creationId xmlns:a16="http://schemas.microsoft.com/office/drawing/2014/main" xmlns="" id="{7405886C-D681-0EDD-B194-6E785369608A}"/>
                  </a:ext>
                </a:extLst>
              </p:cNvPr>
              <p:cNvSpPr>
                <a:spLocks noGrp="1"/>
              </p:cNvSpPr>
              <p:nvPr>
                <p:ph idx="1"/>
              </p:nvPr>
            </p:nvSpPr>
            <p:spPr>
              <a:xfrm>
                <a:off x="1163637" y="1196975"/>
                <a:ext cx="10232745" cy="1819180"/>
              </a:xfrm>
            </p:spPr>
            <p:txBody>
              <a:bodyPr/>
              <a:lstStyle/>
              <a:p>
                <a:pPr lvl="3"/>
                <a:r>
                  <a:rPr lang="de-DE" dirty="0"/>
                  <a:t>Verarbeitung der LiDAR-Scandaten zur Erkennung von Hindernissen</a:t>
                </a:r>
              </a:p>
              <a:p>
                <a:pPr lvl="3"/>
                <a:endParaRPr lang="de-DE" dirty="0"/>
              </a:p>
              <a:p>
                <a:pPr lvl="3"/>
                <a:endParaRPr lang="de-DE" dirty="0"/>
              </a:p>
              <a:p>
                <a:pPr lvl="3"/>
                <a:r>
                  <a:rPr lang="de-DE" dirty="0"/>
                  <a:t>Transformation der LiDAR-Daten in das Kamerakoordinatensystem mit  </a:t>
                </a:r>
                <a14:m>
                  <m:oMath xmlns:m="http://schemas.openxmlformats.org/officeDocument/2006/math">
                    <m:r>
                      <a:rPr lang="de-DE" b="0" i="1" smtClean="0">
                        <a:latin typeface="Cambria Math" panose="02040503050406030204" pitchFamily="18" charset="0"/>
                      </a:rPr>
                      <m:t>𝑇</m:t>
                    </m:r>
                    <m:r>
                      <a:rPr lang="de-DE" b="0" i="1" smtClean="0">
                        <a:latin typeface="Cambria Math" panose="02040503050406030204" pitchFamily="18" charset="0"/>
                      </a:rPr>
                      <m:t>=</m:t>
                    </m:r>
                    <m:d>
                      <m:dPr>
                        <m:begChr m:val="["/>
                        <m:endChr m:val="]"/>
                        <m:ctrlPr>
                          <a:rPr lang="de-DE" i="1" smtClean="0">
                            <a:latin typeface="Cambria Math"/>
                          </a:rPr>
                        </m:ctrlPr>
                      </m:dPr>
                      <m:e>
                        <m:m>
                          <m:mPr>
                            <m:mcs>
                              <m:mc>
                                <m:mcPr>
                                  <m:count m:val="4"/>
                                  <m:mcJc m:val="center"/>
                                </m:mcPr>
                              </m:mc>
                            </m:mcs>
                            <m:ctrlPr>
                              <a:rPr lang="de-DE" i="1" smtClean="0">
                                <a:latin typeface="Cambria Math"/>
                              </a:rPr>
                            </m:ctrlPr>
                          </m:mPr>
                          <m:mr>
                            <m:e>
                              <m:r>
                                <m:rPr>
                                  <m:brk m:alnAt="7"/>
                                </m:rPr>
                                <a:rPr lang="de-DE" b="0" i="1" smtClean="0">
                                  <a:latin typeface="Cambria Math" panose="02040503050406030204" pitchFamily="18" charset="0"/>
                                </a:rPr>
                                <m:t>0</m:t>
                              </m:r>
                              <m:r>
                                <a:rPr lang="de-DE" b="0" i="1" smtClean="0">
                                  <a:latin typeface="Cambria Math" panose="02040503050406030204" pitchFamily="18" charset="0"/>
                                </a:rPr>
                                <m:t>.0</m:t>
                              </m:r>
                            </m:e>
                            <m:e>
                              <m:r>
                                <a:rPr lang="de-DE" b="0" i="1" smtClean="0">
                                  <a:latin typeface="Cambria Math" panose="02040503050406030204" pitchFamily="18" charset="0"/>
                                </a:rPr>
                                <m:t>−1.0</m:t>
                              </m:r>
                            </m:e>
                            <m:e>
                              <m:r>
                                <a:rPr lang="de-DE" b="0" i="1" smtClean="0">
                                  <a:latin typeface="Cambria Math" panose="02040503050406030204" pitchFamily="18" charset="0"/>
                                </a:rPr>
                                <m:t>0.0</m:t>
                              </m:r>
                            </m:e>
                            <m:e>
                              <m:r>
                                <a:rPr lang="de-DE" b="0" i="1" smtClean="0">
                                  <a:latin typeface="Cambria Math" panose="02040503050406030204" pitchFamily="18" charset="0"/>
                                </a:rPr>
                                <m:t>0.0</m:t>
                              </m:r>
                            </m:e>
                          </m:mr>
                          <m:mr>
                            <m:e>
                              <m:r>
                                <a:rPr lang="de-DE" b="0" i="1" smtClean="0">
                                  <a:latin typeface="Cambria Math" panose="02040503050406030204" pitchFamily="18" charset="0"/>
                                </a:rPr>
                                <m:t>0.0</m:t>
                              </m:r>
                            </m:e>
                            <m:e>
                              <m:r>
                                <a:rPr lang="de-DE" b="0" i="1" smtClean="0">
                                  <a:latin typeface="Cambria Math" panose="02040503050406030204" pitchFamily="18" charset="0"/>
                                </a:rPr>
                                <m:t>0.0</m:t>
                              </m:r>
                            </m:e>
                            <m:e>
                              <m:r>
                                <a:rPr lang="de-DE" b="0" i="1" smtClean="0">
                                  <a:latin typeface="Cambria Math" panose="02040503050406030204" pitchFamily="18" charset="0"/>
                                </a:rPr>
                                <m:t>−1.0</m:t>
                              </m:r>
                            </m:e>
                            <m:e>
                              <m:r>
                                <a:rPr lang="de-DE" b="0" i="1" smtClean="0">
                                  <a:latin typeface="Cambria Math" panose="02040503050406030204" pitchFamily="18" charset="0"/>
                                </a:rPr>
                                <m:t>−0.056</m:t>
                              </m:r>
                            </m:e>
                          </m:mr>
                          <m:mr>
                            <m:e>
                              <m:r>
                                <a:rPr lang="de-DE" b="0" i="1" smtClean="0">
                                  <a:latin typeface="Cambria Math" panose="02040503050406030204" pitchFamily="18" charset="0"/>
                                </a:rPr>
                                <m:t>1.0</m:t>
                              </m:r>
                            </m:e>
                            <m:e>
                              <m:r>
                                <a:rPr lang="de-DE" b="0" i="1" smtClean="0">
                                  <a:latin typeface="Cambria Math" panose="02040503050406030204" pitchFamily="18" charset="0"/>
                                </a:rPr>
                                <m:t>0.0</m:t>
                              </m:r>
                            </m:e>
                            <m:e>
                              <m:r>
                                <a:rPr lang="de-DE" b="0" i="1" smtClean="0">
                                  <a:latin typeface="Cambria Math" panose="02040503050406030204" pitchFamily="18" charset="0"/>
                                </a:rPr>
                                <m:t>0.0</m:t>
                              </m:r>
                            </m:e>
                            <m:e>
                              <m:r>
                                <a:rPr lang="de-DE" b="0" i="1" smtClean="0">
                                  <a:latin typeface="Cambria Math" panose="02040503050406030204" pitchFamily="18" charset="0"/>
                                </a:rPr>
                                <m:t>−0.075</m:t>
                              </m:r>
                            </m:e>
                          </m:mr>
                          <m:mr>
                            <m:e>
                              <m:r>
                                <a:rPr lang="de-DE" b="0" i="1" smtClean="0">
                                  <a:latin typeface="Cambria Math" panose="02040503050406030204" pitchFamily="18" charset="0"/>
                                </a:rPr>
                                <m:t>0.0</m:t>
                              </m:r>
                            </m:e>
                            <m:e>
                              <m:r>
                                <a:rPr lang="de-DE" b="0" i="1" smtClean="0">
                                  <a:latin typeface="Cambria Math" panose="02040503050406030204" pitchFamily="18" charset="0"/>
                                </a:rPr>
                                <m:t>0.0</m:t>
                              </m:r>
                            </m:e>
                            <m:e>
                              <m:r>
                                <a:rPr lang="de-DE" b="0" i="1" smtClean="0">
                                  <a:latin typeface="Cambria Math" panose="02040503050406030204" pitchFamily="18" charset="0"/>
                                </a:rPr>
                                <m:t>0.0</m:t>
                              </m:r>
                            </m:e>
                            <m:e>
                              <m:r>
                                <a:rPr lang="de-DE" b="0" i="1" smtClean="0">
                                  <a:latin typeface="Cambria Math" panose="02040503050406030204" pitchFamily="18" charset="0"/>
                                </a:rPr>
                                <m:t>1.0</m:t>
                              </m:r>
                            </m:e>
                          </m:mr>
                        </m:m>
                      </m:e>
                    </m:d>
                  </m:oMath>
                </a14:m>
                <a:endParaRPr lang="de-DE" i="1" dirty="0"/>
              </a:p>
              <a:p>
                <a:pPr lvl="3"/>
                <a:endParaRPr lang="de-DE" dirty="0"/>
              </a:p>
              <a:p>
                <a:pPr lvl="3"/>
                <a:r>
                  <a:rPr lang="de-DE" dirty="0"/>
                  <a:t>Einzeichnen der erkannten Hindernisse ins </a:t>
                </a:r>
                <a:r>
                  <a:rPr lang="de-DE" dirty="0" err="1"/>
                  <a:t>Bird’s</a:t>
                </a:r>
                <a:r>
                  <a:rPr lang="de-DE" dirty="0"/>
                  <a:t>-Eye-View Bild</a:t>
                </a:r>
              </a:p>
            </p:txBody>
          </p:sp>
        </mc:Choice>
        <mc:Fallback xmlns="">
          <p:sp>
            <p:nvSpPr>
              <p:cNvPr id="8" name="Inhaltsplatzhalter 1">
                <a:extLst>
                  <a:ext uri="{FF2B5EF4-FFF2-40B4-BE49-F238E27FC236}">
                    <a16:creationId xmlns:a16="http://schemas.microsoft.com/office/drawing/2014/main" id="{7405886C-D681-0EDD-B194-6E785369608A}"/>
                  </a:ext>
                </a:extLst>
              </p:cNvPr>
              <p:cNvSpPr>
                <a:spLocks noGrp="1" noRot="1" noChangeAspect="1" noMove="1" noResize="1" noEditPoints="1" noAdjustHandles="1" noChangeArrowheads="1" noChangeShapeType="1" noTextEdit="1"/>
              </p:cNvSpPr>
              <p:nvPr>
                <p:ph idx="1"/>
              </p:nvPr>
            </p:nvSpPr>
            <p:spPr>
              <a:xfrm>
                <a:off x="1163637" y="1196975"/>
                <a:ext cx="10232745" cy="1819180"/>
              </a:xfrm>
              <a:blipFill>
                <a:blip r:embed="rId3"/>
                <a:stretch>
                  <a:fillRect l="-60" t="-5351"/>
                </a:stretch>
              </a:blipFill>
            </p:spPr>
            <p:txBody>
              <a:bodyPr/>
              <a:lstStyle/>
              <a:p>
                <a:r>
                  <a:rPr lang="de-DE">
                    <a:noFill/>
                  </a:rPr>
                  <a:t> </a:t>
                </a:r>
              </a:p>
            </p:txBody>
          </p:sp>
        </mc:Fallback>
      </mc:AlternateContent>
      <p:pic>
        <p:nvPicPr>
          <p:cNvPr id="9" name="Bild 8">
            <a:extLst>
              <a:ext uri="{FF2B5EF4-FFF2-40B4-BE49-F238E27FC236}">
                <a16:creationId xmlns:a16="http://schemas.microsoft.com/office/drawing/2014/main" xmlns="" id="{44D838AA-9F6A-8799-C307-DE67EF5221A3}"/>
              </a:ext>
            </a:extLst>
          </p:cNvPr>
          <p:cNvPicPr>
            <a:picLocks noChangeAspect="1"/>
          </p:cNvPicPr>
          <p:nvPr/>
        </p:nvPicPr>
        <p:blipFill>
          <a:blip r:embed="rId4"/>
          <a:srcRect/>
          <a:stretch/>
        </p:blipFill>
        <p:spPr>
          <a:xfrm>
            <a:off x="1919949" y="3188038"/>
            <a:ext cx="3321505" cy="2620606"/>
          </a:xfrm>
          <a:prstGeom prst="rect">
            <a:avLst/>
          </a:prstGeom>
        </p:spPr>
      </p:pic>
      <p:pic>
        <p:nvPicPr>
          <p:cNvPr id="10" name="Bild 9">
            <a:extLst>
              <a:ext uri="{FF2B5EF4-FFF2-40B4-BE49-F238E27FC236}">
                <a16:creationId xmlns:a16="http://schemas.microsoft.com/office/drawing/2014/main" xmlns="" id="{254796D4-D746-D675-27B0-E82F06E7E767}"/>
              </a:ext>
            </a:extLst>
          </p:cNvPr>
          <p:cNvPicPr>
            <a:picLocks noChangeAspect="1"/>
          </p:cNvPicPr>
          <p:nvPr/>
        </p:nvPicPr>
        <p:blipFill>
          <a:blip r:embed="rId5"/>
          <a:srcRect/>
          <a:stretch/>
        </p:blipFill>
        <p:spPr>
          <a:xfrm>
            <a:off x="6950545" y="3188038"/>
            <a:ext cx="3321505" cy="2620606"/>
          </a:xfrm>
          <a:prstGeom prst="rect">
            <a:avLst/>
          </a:prstGeom>
        </p:spPr>
      </p:pic>
      <p:sp>
        <p:nvSpPr>
          <p:cNvPr id="11" name="Inhaltsplatzhalter 1">
            <a:extLst>
              <a:ext uri="{FF2B5EF4-FFF2-40B4-BE49-F238E27FC236}">
                <a16:creationId xmlns:a16="http://schemas.microsoft.com/office/drawing/2014/main" xmlns="" id="{40FA5687-4068-7508-E5D7-9E275381E0F8}"/>
              </a:ext>
            </a:extLst>
          </p:cNvPr>
          <p:cNvSpPr txBox="1">
            <a:spLocks/>
          </p:cNvSpPr>
          <p:nvPr/>
        </p:nvSpPr>
        <p:spPr>
          <a:xfrm>
            <a:off x="2269899" y="5934456"/>
            <a:ext cx="2715091"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6"/>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LiDAR-Punkte gerades Objekt</a:t>
            </a:r>
          </a:p>
        </p:txBody>
      </p:sp>
      <p:sp>
        <p:nvSpPr>
          <p:cNvPr id="12" name="Inhaltsplatzhalter 1">
            <a:extLst>
              <a:ext uri="{FF2B5EF4-FFF2-40B4-BE49-F238E27FC236}">
                <a16:creationId xmlns:a16="http://schemas.microsoft.com/office/drawing/2014/main" xmlns="" id="{8D342D36-A348-A0C7-81B2-8355BC6B1008}"/>
              </a:ext>
            </a:extLst>
          </p:cNvPr>
          <p:cNvSpPr txBox="1">
            <a:spLocks/>
          </p:cNvSpPr>
          <p:nvPr/>
        </p:nvSpPr>
        <p:spPr>
          <a:xfrm>
            <a:off x="7207011" y="5934456"/>
            <a:ext cx="2808572"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6"/>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LiDAR-Punkte schräges Objekt</a:t>
            </a:r>
          </a:p>
        </p:txBody>
      </p:sp>
      <p:sp>
        <p:nvSpPr>
          <p:cNvPr id="2" name="Inhaltsplatzhalter 1">
            <a:extLst>
              <a:ext uri="{FF2B5EF4-FFF2-40B4-BE49-F238E27FC236}">
                <a16:creationId xmlns:a16="http://schemas.microsoft.com/office/drawing/2014/main" xmlns="" id="{F51A7E2F-DB8C-C365-22CF-0CC86860234D}"/>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7"/>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Birdseye_With_LiDAR_Node</a:t>
            </a:r>
            <a:endParaRPr lang="de-DE" dirty="0"/>
          </a:p>
        </p:txBody>
      </p:sp>
      <p:graphicFrame>
        <p:nvGraphicFramePr>
          <p:cNvPr id="3" name="Diagramm 2">
            <a:extLst>
              <a:ext uri="{FF2B5EF4-FFF2-40B4-BE49-F238E27FC236}">
                <a16:creationId xmlns:a16="http://schemas.microsoft.com/office/drawing/2014/main" xmlns="" id="{F1E44655-B925-C007-DDFF-F2880F427E20}"/>
              </a:ext>
            </a:extLst>
          </p:cNvPr>
          <p:cNvGraphicFramePr/>
          <p:nvPr>
            <p:extLst>
              <p:ext uri="{D42A27DB-BD31-4B8C-83A1-F6EECF244321}">
                <p14:modId xmlns:p14="http://schemas.microsoft.com/office/powerpoint/2010/main" val="528211028"/>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4492035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93DDE8-54F6-B6EB-7351-2FC27E50E632}"/>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B73B6649-277A-98B0-9131-16193842CAC0}"/>
              </a:ext>
            </a:extLst>
          </p:cNvPr>
          <p:cNvSpPr>
            <a:spLocks noGrp="1"/>
          </p:cNvSpPr>
          <p:nvPr>
            <p:ph idx="1"/>
          </p:nvPr>
        </p:nvSpPr>
        <p:spPr>
          <a:xfrm>
            <a:off x="1163637" y="1196975"/>
            <a:ext cx="9864725" cy="1819180"/>
          </a:xfrm>
        </p:spPr>
        <p:txBody>
          <a:bodyPr/>
          <a:lstStyle/>
          <a:p>
            <a:pPr lvl="3"/>
            <a:r>
              <a:rPr lang="de-DE" dirty="0"/>
              <a:t>Berechnung der minimalen Abstände nach vorne und um 360°</a:t>
            </a:r>
          </a:p>
          <a:p>
            <a:pPr lvl="3"/>
            <a:endParaRPr lang="de-DE" dirty="0"/>
          </a:p>
          <a:p>
            <a:pPr lvl="3"/>
            <a:r>
              <a:rPr lang="de-DE" dirty="0"/>
              <a:t>Entscheidung anhand von Lidar-Daten, ob der Roboter nach links oder rechts ausweichen soll</a:t>
            </a:r>
          </a:p>
          <a:p>
            <a:pPr lvl="3"/>
            <a:endParaRPr lang="de-DE" dirty="0"/>
          </a:p>
          <a:p>
            <a:pPr lvl="3"/>
            <a:r>
              <a:rPr lang="de-DE" dirty="0"/>
              <a:t>Veröffentlichung der Abstands- und Richtungsinformation für  nachfolgende Verarbeitungsschritte</a:t>
            </a:r>
          </a:p>
          <a:p>
            <a:pPr lvl="3"/>
            <a:endParaRPr lang="de-DE" dirty="0"/>
          </a:p>
        </p:txBody>
      </p:sp>
      <p:pic>
        <p:nvPicPr>
          <p:cNvPr id="9" name="Bild 8">
            <a:extLst>
              <a:ext uri="{FF2B5EF4-FFF2-40B4-BE49-F238E27FC236}">
                <a16:creationId xmlns:a16="http://schemas.microsoft.com/office/drawing/2014/main" xmlns="" id="{61BB2E40-5DAA-7B53-DE5A-D7D55A962537}"/>
              </a:ext>
            </a:extLst>
          </p:cNvPr>
          <p:cNvPicPr>
            <a:picLocks noChangeAspect="1"/>
          </p:cNvPicPr>
          <p:nvPr/>
        </p:nvPicPr>
        <p:blipFill>
          <a:blip r:embed="rId3"/>
          <a:srcRect/>
          <a:stretch/>
        </p:blipFill>
        <p:spPr>
          <a:xfrm>
            <a:off x="4747655" y="3165002"/>
            <a:ext cx="2696688" cy="2620606"/>
          </a:xfrm>
          <a:prstGeom prst="rect">
            <a:avLst/>
          </a:prstGeom>
        </p:spPr>
      </p:pic>
      <p:sp>
        <p:nvSpPr>
          <p:cNvPr id="11" name="Inhaltsplatzhalter 1">
            <a:extLst>
              <a:ext uri="{FF2B5EF4-FFF2-40B4-BE49-F238E27FC236}">
                <a16:creationId xmlns:a16="http://schemas.microsoft.com/office/drawing/2014/main" xmlns="" id="{5821002A-E380-9F73-F5C7-16081CB5711D}"/>
              </a:ext>
            </a:extLst>
          </p:cNvPr>
          <p:cNvSpPr txBox="1">
            <a:spLocks/>
          </p:cNvSpPr>
          <p:nvPr/>
        </p:nvSpPr>
        <p:spPr>
          <a:xfrm>
            <a:off x="5237749" y="5988593"/>
            <a:ext cx="1716502"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Sichtfeld </a:t>
            </a:r>
            <a:r>
              <a:rPr lang="de-DE" dirty="0" err="1"/>
              <a:t>Turtlebot</a:t>
            </a:r>
            <a:endParaRPr lang="de-DE" dirty="0"/>
          </a:p>
        </p:txBody>
      </p:sp>
      <p:sp>
        <p:nvSpPr>
          <p:cNvPr id="2" name="Inhaltsplatzhalter 1">
            <a:extLst>
              <a:ext uri="{FF2B5EF4-FFF2-40B4-BE49-F238E27FC236}">
                <a16:creationId xmlns:a16="http://schemas.microsoft.com/office/drawing/2014/main" xmlns="" id="{547B7862-E45D-5820-9AFB-7A841DFC60C3}"/>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Birdseye_With_LiDAR_Node</a:t>
            </a:r>
            <a:endParaRPr lang="de-DE" dirty="0"/>
          </a:p>
        </p:txBody>
      </p:sp>
      <p:graphicFrame>
        <p:nvGraphicFramePr>
          <p:cNvPr id="3" name="Diagramm 2">
            <a:extLst>
              <a:ext uri="{FF2B5EF4-FFF2-40B4-BE49-F238E27FC236}">
                <a16:creationId xmlns:a16="http://schemas.microsoft.com/office/drawing/2014/main" xmlns="" id="{9745D8B2-5CD4-2E6D-37CB-0AC1C62367B1}"/>
              </a:ext>
            </a:extLst>
          </p:cNvPr>
          <p:cNvGraphicFramePr/>
          <p:nvPr>
            <p:extLst>
              <p:ext uri="{D42A27DB-BD31-4B8C-83A1-F6EECF244321}">
                <p14:modId xmlns:p14="http://schemas.microsoft.com/office/powerpoint/2010/main" val="3805343207"/>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288323370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47E92CC-EA63-BB2F-15C1-4C489D83660B}"/>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7B2D8044-E6DC-880A-967E-BB7BC3D2C889}"/>
              </a:ext>
            </a:extLst>
          </p:cNvPr>
          <p:cNvSpPr>
            <a:spLocks noGrp="1"/>
          </p:cNvSpPr>
          <p:nvPr>
            <p:ph idx="1"/>
          </p:nvPr>
        </p:nvSpPr>
        <p:spPr>
          <a:xfrm>
            <a:off x="1163637" y="1196975"/>
            <a:ext cx="9864725" cy="5145768"/>
          </a:xfrm>
        </p:spPr>
        <p:txBody>
          <a:bodyPr/>
          <a:lstStyle/>
          <a:p>
            <a:pPr lvl="3"/>
            <a:r>
              <a:rPr lang="de-DE" dirty="0"/>
              <a:t>Ist zuständig für das Erkennen der Fahrbahn, das Fahren und Umfahren</a:t>
            </a:r>
          </a:p>
          <a:p>
            <a:pPr lvl="3"/>
            <a:endParaRPr lang="de-DE" dirty="0"/>
          </a:p>
          <a:p>
            <a:pPr lvl="3"/>
            <a:r>
              <a:rPr lang="de-DE" dirty="0"/>
              <a:t>Verarbeitung des Bildes aus der Vogelperspektive, um eine Spur zu erkennen</a:t>
            </a:r>
          </a:p>
          <a:p>
            <a:pPr lvl="3"/>
            <a:endParaRPr lang="de-DE" dirty="0"/>
          </a:p>
          <a:p>
            <a:pPr lvl="4"/>
            <a:r>
              <a:rPr lang="de-DE" dirty="0"/>
              <a:t>Farbfilterung im HSV-Farbraum zur Detektion gelber Markierungen -&gt; </a:t>
            </a:r>
            <a:r>
              <a:rPr lang="de-DE" i="1" dirty="0" err="1"/>
              <a:t>inRange</a:t>
            </a:r>
            <a:r>
              <a:rPr lang="de-DE" i="1" dirty="0"/>
              <a:t>()</a:t>
            </a:r>
          </a:p>
          <a:p>
            <a:pPr lvl="4"/>
            <a:r>
              <a:rPr lang="de-DE" dirty="0"/>
              <a:t>Verbesserungen der Konturen -&gt; </a:t>
            </a:r>
            <a:r>
              <a:rPr lang="de-DE" i="1" dirty="0" err="1"/>
              <a:t>morphologyEx</a:t>
            </a:r>
            <a:r>
              <a:rPr lang="de-DE" i="1" dirty="0"/>
              <a:t>()</a:t>
            </a:r>
          </a:p>
          <a:p>
            <a:pPr lvl="4"/>
            <a:r>
              <a:rPr lang="de-DE" dirty="0"/>
              <a:t>Konturanalyse zur Identifikation der Fahrspurbegrenzungen -&gt; </a:t>
            </a:r>
            <a:r>
              <a:rPr lang="de-DE" i="1" dirty="0" err="1"/>
              <a:t>findContours</a:t>
            </a:r>
            <a:r>
              <a:rPr lang="de-DE" i="1" dirty="0"/>
              <a:t>()</a:t>
            </a:r>
          </a:p>
          <a:p>
            <a:pPr lvl="4"/>
            <a:endParaRPr lang="de-DE" i="1" dirty="0"/>
          </a:p>
          <a:p>
            <a:pPr lvl="3"/>
            <a:r>
              <a:rPr lang="de-DE" dirty="0"/>
              <a:t>Filterung der Konturen</a:t>
            </a:r>
          </a:p>
          <a:p>
            <a:pPr lvl="3"/>
            <a:endParaRPr lang="de-DE" dirty="0"/>
          </a:p>
          <a:p>
            <a:pPr lvl="3"/>
            <a:r>
              <a:rPr lang="de-DE" dirty="0"/>
              <a:t>Bestimmung der Mitten der Konturen</a:t>
            </a:r>
          </a:p>
          <a:p>
            <a:pPr lvl="3"/>
            <a:endParaRPr lang="de-DE" dirty="0"/>
          </a:p>
          <a:p>
            <a:pPr lvl="3"/>
            <a:r>
              <a:rPr lang="de-DE" dirty="0"/>
              <a:t>Bestimmung der Mitte der Fahrbahn</a:t>
            </a:r>
          </a:p>
          <a:p>
            <a:pPr lvl="3"/>
            <a:endParaRPr lang="de-DE" dirty="0"/>
          </a:p>
        </p:txBody>
      </p:sp>
      <p:sp>
        <p:nvSpPr>
          <p:cNvPr id="2" name="Inhaltsplatzhalter 1">
            <a:extLst>
              <a:ext uri="{FF2B5EF4-FFF2-40B4-BE49-F238E27FC236}">
                <a16:creationId xmlns:a16="http://schemas.microsoft.com/office/drawing/2014/main" xmlns="" id="{9927949A-CC85-7346-17EE-0A1734C7A127}"/>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3"/>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Follow_Line_Node</a:t>
            </a:r>
            <a:endParaRPr lang="de-DE" dirty="0"/>
          </a:p>
        </p:txBody>
      </p:sp>
      <p:sp>
        <p:nvSpPr>
          <p:cNvPr id="7" name="Inhaltsplatzhalter 1">
            <a:extLst>
              <a:ext uri="{FF2B5EF4-FFF2-40B4-BE49-F238E27FC236}">
                <a16:creationId xmlns:a16="http://schemas.microsoft.com/office/drawing/2014/main" xmlns="" id="{ECF312D4-97DF-6E4F-934C-5FF5C9AE8992}"/>
              </a:ext>
            </a:extLst>
          </p:cNvPr>
          <p:cNvSpPr txBox="1">
            <a:spLocks/>
          </p:cNvSpPr>
          <p:nvPr/>
        </p:nvSpPr>
        <p:spPr>
          <a:xfrm>
            <a:off x="6166079" y="5390460"/>
            <a:ext cx="1913391"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dirty="0"/>
              <a:t>MORPH_OPEN</a:t>
            </a:r>
          </a:p>
        </p:txBody>
      </p:sp>
      <p:pic>
        <p:nvPicPr>
          <p:cNvPr id="9" name="Bild 8">
            <a:extLst>
              <a:ext uri="{FF2B5EF4-FFF2-40B4-BE49-F238E27FC236}">
                <a16:creationId xmlns:a16="http://schemas.microsoft.com/office/drawing/2014/main" xmlns="" id="{E2E2A11B-97D5-13B7-275A-BC01D9360329}"/>
              </a:ext>
            </a:extLst>
          </p:cNvPr>
          <p:cNvPicPr>
            <a:picLocks noChangeAspect="1"/>
          </p:cNvPicPr>
          <p:nvPr/>
        </p:nvPicPr>
        <p:blipFill>
          <a:blip r:embed="rId5"/>
          <a:srcRect/>
          <a:stretch/>
        </p:blipFill>
        <p:spPr>
          <a:xfrm>
            <a:off x="6096000" y="3815801"/>
            <a:ext cx="2058667" cy="1378571"/>
          </a:xfrm>
          <a:prstGeom prst="rect">
            <a:avLst/>
          </a:prstGeom>
        </p:spPr>
      </p:pic>
      <p:pic>
        <p:nvPicPr>
          <p:cNvPr id="10" name="Bild 8">
            <a:extLst>
              <a:ext uri="{FF2B5EF4-FFF2-40B4-BE49-F238E27FC236}">
                <a16:creationId xmlns:a16="http://schemas.microsoft.com/office/drawing/2014/main" xmlns="" id="{74DB82F9-0233-CBB9-C06F-4EAED708D560}"/>
              </a:ext>
            </a:extLst>
          </p:cNvPr>
          <p:cNvPicPr>
            <a:picLocks noChangeAspect="1"/>
          </p:cNvPicPr>
          <p:nvPr/>
        </p:nvPicPr>
        <p:blipFill>
          <a:blip r:embed="rId6"/>
          <a:srcRect/>
          <a:stretch/>
        </p:blipFill>
        <p:spPr>
          <a:xfrm>
            <a:off x="8969695" y="3815801"/>
            <a:ext cx="2058667" cy="1378571"/>
          </a:xfrm>
          <a:prstGeom prst="rect">
            <a:avLst/>
          </a:prstGeom>
        </p:spPr>
      </p:pic>
      <p:sp>
        <p:nvSpPr>
          <p:cNvPr id="11" name="Inhaltsplatzhalter 1">
            <a:extLst>
              <a:ext uri="{FF2B5EF4-FFF2-40B4-BE49-F238E27FC236}">
                <a16:creationId xmlns:a16="http://schemas.microsoft.com/office/drawing/2014/main" xmlns="" id="{E8B5BC60-C265-C629-C1C8-40B872799885}"/>
              </a:ext>
            </a:extLst>
          </p:cNvPr>
          <p:cNvSpPr txBox="1">
            <a:spLocks/>
          </p:cNvSpPr>
          <p:nvPr/>
        </p:nvSpPr>
        <p:spPr>
          <a:xfrm>
            <a:off x="9029631" y="5390460"/>
            <a:ext cx="1913391"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dirty="0"/>
              <a:t>MORPH_CLOSE</a:t>
            </a:r>
          </a:p>
        </p:txBody>
      </p:sp>
      <p:sp>
        <p:nvSpPr>
          <p:cNvPr id="12" name="Inhaltsplatzhalter 1">
            <a:extLst>
              <a:ext uri="{FF2B5EF4-FFF2-40B4-BE49-F238E27FC236}">
                <a16:creationId xmlns:a16="http://schemas.microsoft.com/office/drawing/2014/main" xmlns="" id="{D8436028-2E36-BCBE-35A4-C3BCF1A367A5}"/>
              </a:ext>
            </a:extLst>
          </p:cNvPr>
          <p:cNvSpPr txBox="1">
            <a:spLocks/>
          </p:cNvSpPr>
          <p:nvPr/>
        </p:nvSpPr>
        <p:spPr>
          <a:xfrm>
            <a:off x="6096000" y="5806079"/>
            <a:ext cx="4932363"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sz="1200" dirty="0">
                <a:solidFill>
                  <a:schemeClr val="bg1">
                    <a:lumMod val="50000"/>
                  </a:schemeClr>
                </a:solidFill>
              </a:rPr>
              <a:t>https://docs.opencv.org/3.4/d3/dbe/tutorial_opening_closing_hats.html</a:t>
            </a:r>
          </a:p>
        </p:txBody>
      </p:sp>
      <p:graphicFrame>
        <p:nvGraphicFramePr>
          <p:cNvPr id="14" name="Diagramm 13">
            <a:extLst>
              <a:ext uri="{FF2B5EF4-FFF2-40B4-BE49-F238E27FC236}">
                <a16:creationId xmlns:a16="http://schemas.microsoft.com/office/drawing/2014/main" xmlns="" id="{6FF17622-ED77-BFDE-FDA0-35A72618E188}"/>
              </a:ext>
            </a:extLst>
          </p:cNvPr>
          <p:cNvGraphicFramePr/>
          <p:nvPr>
            <p:extLst>
              <p:ext uri="{D42A27DB-BD31-4B8C-83A1-F6EECF244321}">
                <p14:modId xmlns:p14="http://schemas.microsoft.com/office/powerpoint/2010/main" val="1950874508"/>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717919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B7F4E1-E661-5E97-0389-3CB609E11A13}"/>
            </a:ext>
          </a:extLst>
        </p:cNvPr>
        <p:cNvGrpSpPr/>
        <p:nvPr/>
      </p:nvGrpSpPr>
      <p:grpSpPr>
        <a:xfrm>
          <a:off x="0" y="0"/>
          <a:ext cx="0" cy="0"/>
          <a:chOff x="0" y="0"/>
          <a:chExt cx="0" cy="0"/>
        </a:xfrm>
      </p:grpSpPr>
      <p:pic>
        <p:nvPicPr>
          <p:cNvPr id="9" name="Bild 8">
            <a:extLst>
              <a:ext uri="{FF2B5EF4-FFF2-40B4-BE49-F238E27FC236}">
                <a16:creationId xmlns:a16="http://schemas.microsoft.com/office/drawing/2014/main" xmlns="" id="{4427C634-777E-4E54-5FFC-EA262323F850}"/>
              </a:ext>
            </a:extLst>
          </p:cNvPr>
          <p:cNvPicPr>
            <a:picLocks noChangeAspect="1"/>
          </p:cNvPicPr>
          <p:nvPr/>
        </p:nvPicPr>
        <p:blipFill>
          <a:blip r:embed="rId3"/>
          <a:srcRect/>
          <a:stretch/>
        </p:blipFill>
        <p:spPr>
          <a:xfrm>
            <a:off x="1632400" y="1196975"/>
            <a:ext cx="2058667" cy="1624250"/>
          </a:xfrm>
          <a:prstGeom prst="rect">
            <a:avLst/>
          </a:prstGeom>
        </p:spPr>
      </p:pic>
      <p:sp>
        <p:nvSpPr>
          <p:cNvPr id="11" name="Inhaltsplatzhalter 1">
            <a:extLst>
              <a:ext uri="{FF2B5EF4-FFF2-40B4-BE49-F238E27FC236}">
                <a16:creationId xmlns:a16="http://schemas.microsoft.com/office/drawing/2014/main" xmlns="" id="{68AA4D62-CB69-ADCD-90F4-ADB847C2BE0A}"/>
              </a:ext>
            </a:extLst>
          </p:cNvPr>
          <p:cNvSpPr txBox="1">
            <a:spLocks/>
          </p:cNvSpPr>
          <p:nvPr/>
        </p:nvSpPr>
        <p:spPr>
          <a:xfrm>
            <a:off x="1715180" y="6202585"/>
            <a:ext cx="1913391"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dirty="0"/>
              <a:t>Fahrbahnerkennung Gerade</a:t>
            </a:r>
          </a:p>
        </p:txBody>
      </p:sp>
      <p:sp>
        <p:nvSpPr>
          <p:cNvPr id="2" name="Inhaltsplatzhalter 1">
            <a:extLst>
              <a:ext uri="{FF2B5EF4-FFF2-40B4-BE49-F238E27FC236}">
                <a16:creationId xmlns:a16="http://schemas.microsoft.com/office/drawing/2014/main" xmlns="" id="{FCD396D8-96EF-EE56-1869-4241AB6FAF6A}"/>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Follow_Line_Node</a:t>
            </a:r>
            <a:endParaRPr lang="de-DE" dirty="0"/>
          </a:p>
        </p:txBody>
      </p:sp>
      <p:pic>
        <p:nvPicPr>
          <p:cNvPr id="4" name="Bild 8">
            <a:extLst>
              <a:ext uri="{FF2B5EF4-FFF2-40B4-BE49-F238E27FC236}">
                <a16:creationId xmlns:a16="http://schemas.microsoft.com/office/drawing/2014/main" xmlns="" id="{EC66B2EC-9C99-4770-1E0E-AAB0413D92DC}"/>
              </a:ext>
            </a:extLst>
          </p:cNvPr>
          <p:cNvPicPr>
            <a:picLocks noChangeAspect="1"/>
          </p:cNvPicPr>
          <p:nvPr/>
        </p:nvPicPr>
        <p:blipFill>
          <a:blip r:embed="rId6"/>
          <a:srcRect/>
          <a:stretch/>
        </p:blipFill>
        <p:spPr>
          <a:xfrm>
            <a:off x="1632400" y="2851030"/>
            <a:ext cx="2058667" cy="1624250"/>
          </a:xfrm>
          <a:prstGeom prst="rect">
            <a:avLst/>
          </a:prstGeom>
        </p:spPr>
      </p:pic>
      <p:pic>
        <p:nvPicPr>
          <p:cNvPr id="5" name="Bild 8">
            <a:extLst>
              <a:ext uri="{FF2B5EF4-FFF2-40B4-BE49-F238E27FC236}">
                <a16:creationId xmlns:a16="http://schemas.microsoft.com/office/drawing/2014/main" xmlns="" id="{9D5E3BCA-2F5F-29C1-52BA-A1DAA707CA5B}"/>
              </a:ext>
            </a:extLst>
          </p:cNvPr>
          <p:cNvPicPr>
            <a:picLocks noChangeAspect="1"/>
          </p:cNvPicPr>
          <p:nvPr/>
        </p:nvPicPr>
        <p:blipFill>
          <a:blip r:embed="rId7"/>
          <a:srcRect/>
          <a:stretch/>
        </p:blipFill>
        <p:spPr>
          <a:xfrm>
            <a:off x="1645101" y="4505087"/>
            <a:ext cx="2058667" cy="1624250"/>
          </a:xfrm>
          <a:prstGeom prst="rect">
            <a:avLst/>
          </a:prstGeom>
        </p:spPr>
      </p:pic>
      <p:pic>
        <p:nvPicPr>
          <p:cNvPr id="6" name="Bild 8">
            <a:extLst>
              <a:ext uri="{FF2B5EF4-FFF2-40B4-BE49-F238E27FC236}">
                <a16:creationId xmlns:a16="http://schemas.microsoft.com/office/drawing/2014/main" xmlns="" id="{5ED81944-711B-9F29-0E70-6B242AB6BBDF}"/>
              </a:ext>
            </a:extLst>
          </p:cNvPr>
          <p:cNvPicPr>
            <a:picLocks noChangeAspect="1"/>
          </p:cNvPicPr>
          <p:nvPr/>
        </p:nvPicPr>
        <p:blipFill>
          <a:blip r:embed="rId8"/>
          <a:srcRect/>
          <a:stretch/>
        </p:blipFill>
        <p:spPr>
          <a:xfrm>
            <a:off x="8488232" y="1196975"/>
            <a:ext cx="2058667" cy="1624250"/>
          </a:xfrm>
          <a:prstGeom prst="rect">
            <a:avLst/>
          </a:prstGeom>
        </p:spPr>
      </p:pic>
      <p:pic>
        <p:nvPicPr>
          <p:cNvPr id="7" name="Bild 8">
            <a:extLst>
              <a:ext uri="{FF2B5EF4-FFF2-40B4-BE49-F238E27FC236}">
                <a16:creationId xmlns:a16="http://schemas.microsoft.com/office/drawing/2014/main" xmlns="" id="{3DBD21A1-E6B6-ACB0-B6A7-3F66A3D0FD31}"/>
              </a:ext>
            </a:extLst>
          </p:cNvPr>
          <p:cNvPicPr>
            <a:picLocks noChangeAspect="1"/>
          </p:cNvPicPr>
          <p:nvPr/>
        </p:nvPicPr>
        <p:blipFill>
          <a:blip r:embed="rId9"/>
          <a:srcRect/>
          <a:stretch/>
        </p:blipFill>
        <p:spPr>
          <a:xfrm>
            <a:off x="8488232" y="2851030"/>
            <a:ext cx="2058667" cy="1624250"/>
          </a:xfrm>
          <a:prstGeom prst="rect">
            <a:avLst/>
          </a:prstGeom>
        </p:spPr>
      </p:pic>
      <p:pic>
        <p:nvPicPr>
          <p:cNvPr id="13" name="Bild 8">
            <a:extLst>
              <a:ext uri="{FF2B5EF4-FFF2-40B4-BE49-F238E27FC236}">
                <a16:creationId xmlns:a16="http://schemas.microsoft.com/office/drawing/2014/main" xmlns="" id="{6D22978D-7C37-87E2-441D-651DC5350DBB}"/>
              </a:ext>
            </a:extLst>
          </p:cNvPr>
          <p:cNvPicPr>
            <a:picLocks noChangeAspect="1"/>
          </p:cNvPicPr>
          <p:nvPr/>
        </p:nvPicPr>
        <p:blipFill>
          <a:blip r:embed="rId10"/>
          <a:srcRect/>
          <a:stretch/>
        </p:blipFill>
        <p:spPr>
          <a:xfrm>
            <a:off x="8500933" y="4505087"/>
            <a:ext cx="2058667" cy="1624250"/>
          </a:xfrm>
          <a:prstGeom prst="rect">
            <a:avLst/>
          </a:prstGeom>
        </p:spPr>
      </p:pic>
      <p:pic>
        <p:nvPicPr>
          <p:cNvPr id="14" name="Bild 8">
            <a:extLst>
              <a:ext uri="{FF2B5EF4-FFF2-40B4-BE49-F238E27FC236}">
                <a16:creationId xmlns:a16="http://schemas.microsoft.com/office/drawing/2014/main" xmlns="" id="{3EB6BED5-725C-18CE-3CA0-166D900328F1}"/>
              </a:ext>
            </a:extLst>
          </p:cNvPr>
          <p:cNvPicPr>
            <a:picLocks noChangeAspect="1"/>
          </p:cNvPicPr>
          <p:nvPr/>
        </p:nvPicPr>
        <p:blipFill>
          <a:blip r:embed="rId11"/>
          <a:srcRect/>
          <a:stretch/>
        </p:blipFill>
        <p:spPr>
          <a:xfrm>
            <a:off x="5053965" y="1196975"/>
            <a:ext cx="2058667" cy="1624250"/>
          </a:xfrm>
          <a:prstGeom prst="rect">
            <a:avLst/>
          </a:prstGeom>
        </p:spPr>
      </p:pic>
      <p:pic>
        <p:nvPicPr>
          <p:cNvPr id="15" name="Bild 8">
            <a:extLst>
              <a:ext uri="{FF2B5EF4-FFF2-40B4-BE49-F238E27FC236}">
                <a16:creationId xmlns:a16="http://schemas.microsoft.com/office/drawing/2014/main" xmlns="" id="{905F5338-55ED-8131-4F27-BAC6A1D26E52}"/>
              </a:ext>
            </a:extLst>
          </p:cNvPr>
          <p:cNvPicPr>
            <a:picLocks noChangeAspect="1"/>
          </p:cNvPicPr>
          <p:nvPr/>
        </p:nvPicPr>
        <p:blipFill>
          <a:blip r:embed="rId12"/>
          <a:srcRect/>
          <a:stretch/>
        </p:blipFill>
        <p:spPr>
          <a:xfrm>
            <a:off x="5053965" y="2851030"/>
            <a:ext cx="2058667" cy="1624250"/>
          </a:xfrm>
          <a:prstGeom prst="rect">
            <a:avLst/>
          </a:prstGeom>
        </p:spPr>
      </p:pic>
      <p:pic>
        <p:nvPicPr>
          <p:cNvPr id="16" name="Bild 8">
            <a:extLst>
              <a:ext uri="{FF2B5EF4-FFF2-40B4-BE49-F238E27FC236}">
                <a16:creationId xmlns:a16="http://schemas.microsoft.com/office/drawing/2014/main" xmlns="" id="{22D6005D-646B-9C8A-2423-3C44F94ADB2E}"/>
              </a:ext>
            </a:extLst>
          </p:cNvPr>
          <p:cNvPicPr>
            <a:picLocks noChangeAspect="1"/>
          </p:cNvPicPr>
          <p:nvPr/>
        </p:nvPicPr>
        <p:blipFill>
          <a:blip r:embed="rId13"/>
          <a:srcRect/>
          <a:stretch/>
        </p:blipFill>
        <p:spPr>
          <a:xfrm>
            <a:off x="5066666" y="4505087"/>
            <a:ext cx="2058667" cy="1624250"/>
          </a:xfrm>
          <a:prstGeom prst="rect">
            <a:avLst/>
          </a:prstGeom>
        </p:spPr>
      </p:pic>
      <p:sp>
        <p:nvSpPr>
          <p:cNvPr id="17" name="Inhaltsplatzhalter 1">
            <a:extLst>
              <a:ext uri="{FF2B5EF4-FFF2-40B4-BE49-F238E27FC236}">
                <a16:creationId xmlns:a16="http://schemas.microsoft.com/office/drawing/2014/main" xmlns="" id="{C2C248C7-C782-700F-F85E-BE1594F05F1F}"/>
              </a:ext>
            </a:extLst>
          </p:cNvPr>
          <p:cNvSpPr txBox="1">
            <a:spLocks/>
          </p:cNvSpPr>
          <p:nvPr/>
        </p:nvSpPr>
        <p:spPr>
          <a:xfrm>
            <a:off x="5126602" y="6202585"/>
            <a:ext cx="1913391"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dirty="0"/>
              <a:t>Fahrbahnerkennung Kurve</a:t>
            </a:r>
          </a:p>
        </p:txBody>
      </p:sp>
      <p:sp>
        <p:nvSpPr>
          <p:cNvPr id="18" name="Inhaltsplatzhalter 1">
            <a:extLst>
              <a:ext uri="{FF2B5EF4-FFF2-40B4-BE49-F238E27FC236}">
                <a16:creationId xmlns:a16="http://schemas.microsoft.com/office/drawing/2014/main" xmlns="" id="{F642FFDB-7620-9679-D31F-EE817C92E42F}"/>
              </a:ext>
            </a:extLst>
          </p:cNvPr>
          <p:cNvSpPr txBox="1">
            <a:spLocks/>
          </p:cNvSpPr>
          <p:nvPr/>
        </p:nvSpPr>
        <p:spPr>
          <a:xfrm>
            <a:off x="8563431" y="6202585"/>
            <a:ext cx="1913391"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dirty="0"/>
              <a:t>Fahrbahnerkennung Kreuzung</a:t>
            </a:r>
          </a:p>
        </p:txBody>
      </p:sp>
      <p:graphicFrame>
        <p:nvGraphicFramePr>
          <p:cNvPr id="3" name="Diagramm 2">
            <a:extLst>
              <a:ext uri="{FF2B5EF4-FFF2-40B4-BE49-F238E27FC236}">
                <a16:creationId xmlns:a16="http://schemas.microsoft.com/office/drawing/2014/main" xmlns="" id="{B569D3C2-1F2D-ECFF-0CAD-FB384188096C}"/>
              </a:ext>
            </a:extLst>
          </p:cNvPr>
          <p:cNvGraphicFramePr/>
          <p:nvPr>
            <p:extLst>
              <p:ext uri="{D42A27DB-BD31-4B8C-83A1-F6EECF244321}">
                <p14:modId xmlns:p14="http://schemas.microsoft.com/office/powerpoint/2010/main" val="2726011540"/>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p:spTree>
    <p:extLst>
      <p:ext uri="{BB962C8B-B14F-4D97-AF65-F5344CB8AC3E}">
        <p14:creationId xmlns:p14="http://schemas.microsoft.com/office/powerpoint/2010/main" val="235913303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1024B9-D2C4-B816-295C-98DF97DC0F34}"/>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470118B8-47E8-2C9F-24A0-05854F5F4ADF}"/>
              </a:ext>
            </a:extLst>
          </p:cNvPr>
          <p:cNvSpPr>
            <a:spLocks noGrp="1"/>
          </p:cNvSpPr>
          <p:nvPr>
            <p:ph idx="1"/>
          </p:nvPr>
        </p:nvSpPr>
        <p:spPr>
          <a:xfrm>
            <a:off x="1163637" y="1196975"/>
            <a:ext cx="9864725" cy="4688568"/>
          </a:xfrm>
        </p:spPr>
        <p:txBody>
          <a:bodyPr/>
          <a:lstStyle/>
          <a:p>
            <a:pPr lvl="3"/>
            <a:r>
              <a:rPr lang="de-DE" dirty="0"/>
              <a:t>Ermittlung der Abweichung von der Bildmitte</a:t>
            </a:r>
          </a:p>
          <a:p>
            <a:pPr lvl="4"/>
            <a:r>
              <a:rPr lang="de-DE" dirty="0"/>
              <a:t>Zwei Konturen</a:t>
            </a:r>
          </a:p>
          <a:p>
            <a:pPr lvl="4"/>
            <a:r>
              <a:rPr lang="de-DE" dirty="0"/>
              <a:t>Eine Kontur</a:t>
            </a:r>
          </a:p>
          <a:p>
            <a:pPr lvl="3"/>
            <a:endParaRPr lang="de-DE" dirty="0"/>
          </a:p>
          <a:p>
            <a:pPr lvl="3"/>
            <a:r>
              <a:rPr lang="de-DE" dirty="0"/>
              <a:t>Berechnung der Drehwinkelgeschwindigkeit mit einem PD-Regler</a:t>
            </a:r>
          </a:p>
          <a:p>
            <a:pPr lvl="3"/>
            <a:endParaRPr lang="de-DE" dirty="0"/>
          </a:p>
          <a:p>
            <a:pPr lvl="3"/>
            <a:r>
              <a:rPr lang="de-DE" dirty="0"/>
              <a:t>Bei Hinderniserkennung wird die Fahrt unterbrochen</a:t>
            </a:r>
          </a:p>
          <a:p>
            <a:pPr lvl="3"/>
            <a:endParaRPr lang="de-DE" dirty="0"/>
          </a:p>
          <a:p>
            <a:pPr lvl="3"/>
            <a:r>
              <a:rPr lang="de-DE" dirty="0"/>
              <a:t>Ggfs. Umfahren des Hindernisses</a:t>
            </a:r>
          </a:p>
          <a:p>
            <a:pPr lvl="3"/>
            <a:endParaRPr lang="de-DE" dirty="0"/>
          </a:p>
          <a:p>
            <a:pPr lvl="3"/>
            <a:r>
              <a:rPr lang="de-DE" dirty="0"/>
              <a:t>Steuerung des Roboters bei den Zuständen mit einer State-</a:t>
            </a:r>
            <a:r>
              <a:rPr lang="de-DE" dirty="0" err="1"/>
              <a:t>Machine</a:t>
            </a:r>
            <a:endParaRPr lang="de-DE" dirty="0"/>
          </a:p>
          <a:p>
            <a:pPr lvl="3"/>
            <a:endParaRPr lang="de-DE" dirty="0"/>
          </a:p>
          <a:p>
            <a:pPr lvl="3"/>
            <a:endParaRPr lang="de-DE" dirty="0"/>
          </a:p>
          <a:p>
            <a:pPr lvl="3"/>
            <a:endParaRPr lang="de-DE" dirty="0"/>
          </a:p>
        </p:txBody>
      </p:sp>
      <p:sp>
        <p:nvSpPr>
          <p:cNvPr id="2" name="Inhaltsplatzhalter 1">
            <a:extLst>
              <a:ext uri="{FF2B5EF4-FFF2-40B4-BE49-F238E27FC236}">
                <a16:creationId xmlns:a16="http://schemas.microsoft.com/office/drawing/2014/main" xmlns="" id="{3DA9E065-C720-43AC-2753-92DDB711BCA2}"/>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3"/>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Follow_Line_Node</a:t>
            </a:r>
            <a:endParaRPr lang="de-DE" dirty="0"/>
          </a:p>
        </p:txBody>
      </p:sp>
      <p:graphicFrame>
        <p:nvGraphicFramePr>
          <p:cNvPr id="3" name="Diagramm 2">
            <a:extLst>
              <a:ext uri="{FF2B5EF4-FFF2-40B4-BE49-F238E27FC236}">
                <a16:creationId xmlns:a16="http://schemas.microsoft.com/office/drawing/2014/main" xmlns="" id="{76B187EF-5ACF-3073-071A-F90B1BC25BDB}"/>
              </a:ext>
            </a:extLst>
          </p:cNvPr>
          <p:cNvGraphicFramePr/>
          <p:nvPr>
            <p:extLst>
              <p:ext uri="{D42A27DB-BD31-4B8C-83A1-F6EECF244321}">
                <p14:modId xmlns:p14="http://schemas.microsoft.com/office/powerpoint/2010/main" val="2556634530"/>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47112701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011D9D-A8E3-41EA-2E28-54EB16723137}"/>
            </a:ext>
          </a:extLst>
        </p:cNvPr>
        <p:cNvGrpSpPr/>
        <p:nvPr/>
      </p:nvGrpSpPr>
      <p:grpSpPr>
        <a:xfrm>
          <a:off x="0" y="0"/>
          <a:ext cx="0" cy="0"/>
          <a:chOff x="0" y="0"/>
          <a:chExt cx="0" cy="0"/>
        </a:xfrm>
      </p:grpSpPr>
      <p:sp>
        <p:nvSpPr>
          <p:cNvPr id="8" name="Inhaltsplatzhalter 1">
            <a:extLst>
              <a:ext uri="{FF2B5EF4-FFF2-40B4-BE49-F238E27FC236}">
                <a16:creationId xmlns:a16="http://schemas.microsoft.com/office/drawing/2014/main" xmlns="" id="{CD4BA317-2DC6-0B6A-8A63-77778D076E3F}"/>
              </a:ext>
            </a:extLst>
          </p:cNvPr>
          <p:cNvSpPr>
            <a:spLocks noGrp="1"/>
          </p:cNvSpPr>
          <p:nvPr>
            <p:ph idx="1"/>
          </p:nvPr>
        </p:nvSpPr>
        <p:spPr>
          <a:xfrm>
            <a:off x="1163638" y="1196975"/>
            <a:ext cx="6293088" cy="5385254"/>
          </a:xfrm>
        </p:spPr>
        <p:txBody>
          <a:bodyPr/>
          <a:lstStyle/>
          <a:p>
            <a:pPr lvl="3"/>
            <a:endParaRPr lang="de-DE" dirty="0"/>
          </a:p>
          <a:p>
            <a:pPr lvl="3"/>
            <a:endParaRPr lang="de-DE" dirty="0"/>
          </a:p>
          <a:p>
            <a:pPr lvl="3"/>
            <a:endParaRPr lang="de-DE" dirty="0"/>
          </a:p>
          <a:p>
            <a:pPr lvl="3"/>
            <a:r>
              <a:rPr lang="de-DE" dirty="0"/>
              <a:t>SEARCH: Nach Linie/Linien suchen</a:t>
            </a:r>
          </a:p>
          <a:p>
            <a:pPr marL="0" lvl="3" indent="0">
              <a:buNone/>
            </a:pPr>
            <a:endParaRPr lang="de-DE" dirty="0"/>
          </a:p>
          <a:p>
            <a:pPr lvl="3"/>
            <a:endParaRPr lang="de-DE" dirty="0"/>
          </a:p>
          <a:p>
            <a:pPr lvl="3"/>
            <a:r>
              <a:rPr lang="de-DE" dirty="0"/>
              <a:t>FOLLOW_LINE: Linie/Linien folgen</a:t>
            </a:r>
          </a:p>
          <a:p>
            <a:pPr lvl="3"/>
            <a:endParaRPr lang="de-DE" dirty="0"/>
          </a:p>
          <a:p>
            <a:pPr lvl="3"/>
            <a:endParaRPr lang="de-DE" dirty="0"/>
          </a:p>
          <a:p>
            <a:pPr lvl="3"/>
            <a:r>
              <a:rPr lang="de-DE" dirty="0"/>
              <a:t>WAIT_CHECK: vor Hindernis warten</a:t>
            </a:r>
          </a:p>
          <a:p>
            <a:pPr lvl="3"/>
            <a:endParaRPr lang="de-DE" dirty="0"/>
          </a:p>
          <a:p>
            <a:pPr lvl="3"/>
            <a:endParaRPr lang="de-DE" dirty="0"/>
          </a:p>
          <a:p>
            <a:pPr lvl="3"/>
            <a:r>
              <a:rPr lang="de-DE" dirty="0"/>
              <a:t>TURN_90: um 90 Grad drehen</a:t>
            </a:r>
          </a:p>
          <a:p>
            <a:pPr lvl="3"/>
            <a:endParaRPr lang="de-DE" dirty="0"/>
          </a:p>
          <a:p>
            <a:pPr lvl="3"/>
            <a:endParaRPr lang="de-DE" dirty="0"/>
          </a:p>
          <a:p>
            <a:pPr lvl="3"/>
            <a:r>
              <a:rPr lang="de-DE" dirty="0"/>
              <a:t>AVOID_OBSTACLE: Hindernis umfahren</a:t>
            </a:r>
          </a:p>
          <a:p>
            <a:pPr lvl="3"/>
            <a:endParaRPr lang="de-DE" dirty="0"/>
          </a:p>
          <a:p>
            <a:pPr lvl="3"/>
            <a:endParaRPr lang="de-DE" dirty="0"/>
          </a:p>
        </p:txBody>
      </p:sp>
      <p:pic>
        <p:nvPicPr>
          <p:cNvPr id="10" name="Bild 9">
            <a:extLst>
              <a:ext uri="{FF2B5EF4-FFF2-40B4-BE49-F238E27FC236}">
                <a16:creationId xmlns:a16="http://schemas.microsoft.com/office/drawing/2014/main" xmlns="" id="{8D1EA00D-C591-FDA9-B1FF-D1D2DBEB1713}"/>
              </a:ext>
            </a:extLst>
          </p:cNvPr>
          <p:cNvPicPr>
            <a:picLocks noChangeAspect="1"/>
          </p:cNvPicPr>
          <p:nvPr/>
        </p:nvPicPr>
        <p:blipFill>
          <a:blip r:embed="rId3"/>
          <a:srcRect/>
          <a:stretch/>
        </p:blipFill>
        <p:spPr>
          <a:xfrm>
            <a:off x="7456726" y="1054437"/>
            <a:ext cx="3571636" cy="4693219"/>
          </a:xfrm>
          <a:prstGeom prst="rect">
            <a:avLst/>
          </a:prstGeom>
        </p:spPr>
      </p:pic>
      <p:sp>
        <p:nvSpPr>
          <p:cNvPr id="12" name="Inhaltsplatzhalter 1">
            <a:extLst>
              <a:ext uri="{FF2B5EF4-FFF2-40B4-BE49-F238E27FC236}">
                <a16:creationId xmlns:a16="http://schemas.microsoft.com/office/drawing/2014/main" xmlns="" id="{D54D2AFE-6D23-592A-A29F-96CCDB6E6F7D}"/>
              </a:ext>
            </a:extLst>
          </p:cNvPr>
          <p:cNvSpPr txBox="1">
            <a:spLocks/>
          </p:cNvSpPr>
          <p:nvPr/>
        </p:nvSpPr>
        <p:spPr>
          <a:xfrm>
            <a:off x="8086975" y="5924638"/>
            <a:ext cx="2311137" cy="266481"/>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State-</a:t>
            </a:r>
            <a:r>
              <a:rPr lang="de-DE" dirty="0" err="1"/>
              <a:t>Machine</a:t>
            </a:r>
            <a:r>
              <a:rPr lang="de-DE" dirty="0"/>
              <a:t> </a:t>
            </a:r>
            <a:r>
              <a:rPr lang="de-DE" dirty="0" err="1"/>
              <a:t>Turtlebot</a:t>
            </a:r>
            <a:endParaRPr lang="de-DE" dirty="0"/>
          </a:p>
        </p:txBody>
      </p:sp>
      <p:sp>
        <p:nvSpPr>
          <p:cNvPr id="2" name="Inhaltsplatzhalter 1">
            <a:extLst>
              <a:ext uri="{FF2B5EF4-FFF2-40B4-BE49-F238E27FC236}">
                <a16:creationId xmlns:a16="http://schemas.microsoft.com/office/drawing/2014/main" xmlns="" id="{E13E9A4D-1B8B-3C08-DF5C-F2767FFCAF87}"/>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err="1"/>
              <a:t>Follow_Line_Node</a:t>
            </a:r>
            <a:endParaRPr lang="de-DE" dirty="0"/>
          </a:p>
        </p:txBody>
      </p:sp>
      <p:graphicFrame>
        <p:nvGraphicFramePr>
          <p:cNvPr id="3" name="Diagramm 2">
            <a:extLst>
              <a:ext uri="{FF2B5EF4-FFF2-40B4-BE49-F238E27FC236}">
                <a16:creationId xmlns:a16="http://schemas.microsoft.com/office/drawing/2014/main" xmlns="" id="{5D3DE01B-6855-4094-0E41-3C9C20CAE436}"/>
              </a:ext>
            </a:extLst>
          </p:cNvPr>
          <p:cNvGraphicFramePr/>
          <p:nvPr>
            <p:extLst>
              <p:ext uri="{D42A27DB-BD31-4B8C-83A1-F6EECF244321}">
                <p14:modId xmlns:p14="http://schemas.microsoft.com/office/powerpoint/2010/main" val="2035189689"/>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9707023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B99A357-8EBA-25DE-5421-99D491A31B8A}"/>
            </a:ext>
          </a:extLst>
        </p:cNvPr>
        <p:cNvGrpSpPr/>
        <p:nvPr/>
      </p:nvGrpSpPr>
      <p:grpSpPr>
        <a:xfrm>
          <a:off x="0" y="0"/>
          <a:ext cx="0" cy="0"/>
          <a:chOff x="0" y="0"/>
          <a:chExt cx="0" cy="0"/>
        </a:xfrm>
      </p:grpSpPr>
      <p:pic>
        <p:nvPicPr>
          <p:cNvPr id="9" name="Bild 8">
            <a:extLst>
              <a:ext uri="{FF2B5EF4-FFF2-40B4-BE49-F238E27FC236}">
                <a16:creationId xmlns:a16="http://schemas.microsoft.com/office/drawing/2014/main" xmlns="" id="{69155E8A-8848-EF13-F497-095E7948517F}"/>
              </a:ext>
            </a:extLst>
          </p:cNvPr>
          <p:cNvPicPr>
            <a:picLocks noChangeAspect="1"/>
          </p:cNvPicPr>
          <p:nvPr/>
        </p:nvPicPr>
        <p:blipFill>
          <a:blip r:embed="rId3"/>
          <a:srcRect/>
          <a:stretch/>
        </p:blipFill>
        <p:spPr>
          <a:xfrm>
            <a:off x="3179002" y="1110468"/>
            <a:ext cx="5833995" cy="4823988"/>
          </a:xfrm>
          <a:prstGeom prst="rect">
            <a:avLst/>
          </a:prstGeom>
        </p:spPr>
      </p:pic>
      <p:sp>
        <p:nvSpPr>
          <p:cNvPr id="11" name="Inhaltsplatzhalter 1">
            <a:extLst>
              <a:ext uri="{FF2B5EF4-FFF2-40B4-BE49-F238E27FC236}">
                <a16:creationId xmlns:a16="http://schemas.microsoft.com/office/drawing/2014/main" xmlns="" id="{209091E9-DBA5-3BBB-0015-F65C5807C26E}"/>
              </a:ext>
            </a:extLst>
          </p:cNvPr>
          <p:cNvSpPr txBox="1">
            <a:spLocks/>
          </p:cNvSpPr>
          <p:nvPr/>
        </p:nvSpPr>
        <p:spPr>
          <a:xfrm>
            <a:off x="4862838" y="5934456"/>
            <a:ext cx="2466321" cy="194882"/>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defRPr/>
            </a:pPr>
            <a:r>
              <a:rPr lang="de-DE" dirty="0"/>
              <a:t>Zusammenspiel der Nodes</a:t>
            </a:r>
          </a:p>
        </p:txBody>
      </p:sp>
      <p:sp>
        <p:nvSpPr>
          <p:cNvPr id="2" name="Inhaltsplatzhalter 1">
            <a:extLst>
              <a:ext uri="{FF2B5EF4-FFF2-40B4-BE49-F238E27FC236}">
                <a16:creationId xmlns:a16="http://schemas.microsoft.com/office/drawing/2014/main" xmlns="" id="{8FE050DF-3915-ECD3-FCE7-0C31AF49E522}"/>
              </a:ext>
            </a:extLst>
          </p:cNvPr>
          <p:cNvSpPr txBox="1">
            <a:spLocks/>
          </p:cNvSpPr>
          <p:nvPr/>
        </p:nvSpPr>
        <p:spPr>
          <a:xfrm>
            <a:off x="1163638" y="674525"/>
            <a:ext cx="9864725" cy="289838"/>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marR="0" indent="-216000" algn="l" defTabSz="914400" rtl="0" eaLnBrk="1" fontAlgn="auto" latinLnBrk="0" hangingPunct="1">
              <a:lnSpc>
                <a:spcPts val="2000"/>
              </a:lnSpc>
              <a:spcBef>
                <a:spcPts val="0"/>
              </a:spcBef>
              <a:spcAft>
                <a:spcPts val="0"/>
              </a:spcAft>
              <a:buClr>
                <a:srgbClr val="A8A8A7"/>
              </a:buClr>
              <a:buSzPct val="68000"/>
              <a:buFontTx/>
              <a:buBlip>
                <a:blip r:embed="rId5"/>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de-DE" dirty="0"/>
              <a:t>Zusammenspiel der Nodes</a:t>
            </a:r>
          </a:p>
        </p:txBody>
      </p:sp>
      <p:graphicFrame>
        <p:nvGraphicFramePr>
          <p:cNvPr id="5" name="Diagramm 4">
            <a:extLst>
              <a:ext uri="{FF2B5EF4-FFF2-40B4-BE49-F238E27FC236}">
                <a16:creationId xmlns:a16="http://schemas.microsoft.com/office/drawing/2014/main" xmlns="" id="{421E5235-6BE2-5BED-F812-AB69F84F0A01}"/>
              </a:ext>
            </a:extLst>
          </p:cNvPr>
          <p:cNvGraphicFramePr/>
          <p:nvPr>
            <p:extLst>
              <p:ext uri="{D42A27DB-BD31-4B8C-83A1-F6EECF244321}">
                <p14:modId xmlns:p14="http://schemas.microsoft.com/office/powerpoint/2010/main" val="3775596406"/>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350118611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idx="1"/>
          </p:nvPr>
        </p:nvSpPr>
        <p:spPr/>
        <p:txBody>
          <a:bodyPr/>
          <a:lstStyle/>
          <a:p>
            <a:pPr lvl="0"/>
            <a:r>
              <a:rPr lang="de-DE" dirty="0"/>
              <a:t>Fahren …</a:t>
            </a:r>
          </a:p>
          <a:p>
            <a:pPr lvl="3"/>
            <a:r>
              <a:rPr lang="de-DE" dirty="0"/>
              <a:t/>
            </a:r>
            <a:br>
              <a:rPr lang="de-DE" dirty="0"/>
            </a:br>
            <a:r>
              <a:rPr lang="de-DE" dirty="0"/>
              <a:t>HAWK</a:t>
            </a:r>
          </a:p>
          <a:p>
            <a:pPr lvl="3"/>
            <a:r>
              <a:rPr lang="de-DE" dirty="0"/>
              <a:t>Fakultät Ingenieurwissenschaften und Gesundheit</a:t>
            </a:r>
          </a:p>
          <a:p>
            <a:pPr lvl="3"/>
            <a:r>
              <a:rPr lang="de-DE" dirty="0"/>
              <a:t>Von-Ossietzky-Straße 99</a:t>
            </a:r>
          </a:p>
          <a:p>
            <a:pPr lvl="3"/>
            <a:r>
              <a:rPr lang="de-DE" dirty="0"/>
              <a:t>37085 Göttingen</a:t>
            </a:r>
          </a:p>
        </p:txBody>
      </p:sp>
      <p:pic>
        <p:nvPicPr>
          <p:cNvPr id="6" name="Grafik 5">
            <a:extLst>
              <a:ext uri="{FF2B5EF4-FFF2-40B4-BE49-F238E27FC236}">
                <a16:creationId xmlns:a16="http://schemas.microsoft.com/office/drawing/2014/main" xmlns="" id="{E41D9EA4-3302-32F9-BA3A-FBB8BF026AE4}"/>
              </a:ext>
            </a:extLst>
          </p:cNvPr>
          <p:cNvPicPr>
            <a:picLocks noChangeAspect="1"/>
          </p:cNvPicPr>
          <p:nvPr/>
        </p:nvPicPr>
        <p:blipFill>
          <a:blip r:embed="rId3"/>
          <a:stretch>
            <a:fillRect/>
          </a:stretch>
        </p:blipFill>
        <p:spPr>
          <a:xfrm>
            <a:off x="8073389" y="2210393"/>
            <a:ext cx="1352739" cy="1533739"/>
          </a:xfrm>
          <a:prstGeom prst="rect">
            <a:avLst/>
          </a:prstGeom>
        </p:spPr>
      </p:pic>
      <p:sp>
        <p:nvSpPr>
          <p:cNvPr id="7" name="Inhaltsplatzhalter 1">
            <a:extLst>
              <a:ext uri="{FF2B5EF4-FFF2-40B4-BE49-F238E27FC236}">
                <a16:creationId xmlns:a16="http://schemas.microsoft.com/office/drawing/2014/main" xmlns="" id="{A0FAD29D-AEC1-63D9-1F48-4F2BC93D494E}"/>
              </a:ext>
            </a:extLst>
          </p:cNvPr>
          <p:cNvSpPr txBox="1">
            <a:spLocks/>
          </p:cNvSpPr>
          <p:nvPr/>
        </p:nvSpPr>
        <p:spPr>
          <a:xfrm>
            <a:off x="1163637" y="5917109"/>
            <a:ext cx="4279939" cy="506403"/>
          </a:xfrm>
          <a:prstGeom prst="rect">
            <a:avLst/>
          </a:prstGeom>
        </p:spPr>
        <p:txBody>
          <a:bodyPr vert="horz" lIns="0" tIns="0" rIns="0" bIns="0" rtlCol="0">
            <a:noAutofit/>
          </a:bodyPr>
          <a:lstStyle>
            <a:lvl1pPr marL="0" indent="0" algn="l" defTabSz="914400" rtl="0" eaLnBrk="1" latinLnBrk="0" hangingPunct="1">
              <a:lnSpc>
                <a:spcPts val="2600"/>
              </a:lnSpc>
              <a:spcBef>
                <a:spcPts val="0"/>
              </a:spcBef>
              <a:buFont typeface="Arial"/>
              <a:buNone/>
              <a:defRPr sz="2400" b="1" kern="1200" baseline="0">
                <a:solidFill>
                  <a:srgbClr val="575756"/>
                </a:solidFill>
                <a:latin typeface="Calibri" charset="0"/>
                <a:ea typeface="Calibri" charset="0"/>
                <a:cs typeface="Calibri" charset="0"/>
              </a:defRPr>
            </a:lvl1pPr>
            <a:lvl2pPr marL="0" indent="0" algn="l" defTabSz="914400" rtl="0" eaLnBrk="1" latinLnBrk="0" hangingPunct="1">
              <a:lnSpc>
                <a:spcPts val="2000"/>
              </a:lnSpc>
              <a:spcBef>
                <a:spcPts val="0"/>
              </a:spcBef>
              <a:buFont typeface="Arial"/>
              <a:buNone/>
              <a:defRPr sz="1800" b="1" kern="1200" baseline="0">
                <a:solidFill>
                  <a:schemeClr val="tx1"/>
                </a:solidFill>
                <a:latin typeface="Calibri" charset="0"/>
                <a:ea typeface="Calibri" charset="0"/>
                <a:cs typeface="Calibri" charset="0"/>
              </a:defRPr>
            </a:lvl2pPr>
            <a:lvl3pPr marL="0" marR="0" indent="0" algn="l" defTabSz="914400" rtl="0" eaLnBrk="1" fontAlgn="auto" latinLnBrk="0" hangingPunct="1">
              <a:lnSpc>
                <a:spcPts val="2000"/>
              </a:lnSpc>
              <a:spcBef>
                <a:spcPts val="0"/>
              </a:spcBef>
              <a:spcAft>
                <a:spcPts val="0"/>
              </a:spcAft>
              <a:buClrTx/>
              <a:buSzTx/>
              <a:buFont typeface="Wingdings" charset="2"/>
              <a:buNone/>
              <a:tabLst/>
              <a:defRPr sz="1800" kern="1200" baseline="0">
                <a:solidFill>
                  <a:schemeClr val="tx1"/>
                </a:solidFill>
                <a:latin typeface="Calibri" charset="0"/>
                <a:ea typeface="Calibri" charset="0"/>
                <a:cs typeface="Calibri" charset="0"/>
              </a:defRPr>
            </a:lvl3pPr>
            <a:lvl4pPr marL="216000" indent="-216000" algn="l" defTabSz="914400" rtl="0" eaLnBrk="1" latinLnBrk="0" hangingPunct="1">
              <a:lnSpc>
                <a:spcPts val="2000"/>
              </a:lnSpc>
              <a:spcBef>
                <a:spcPts val="0"/>
              </a:spcBef>
              <a:buClr>
                <a:srgbClr val="A8A8A7"/>
              </a:buClr>
              <a:buSzPct val="68000"/>
              <a:buFontTx/>
              <a:buBlip>
                <a:blip r:embed="rId4"/>
              </a:buBlip>
              <a:tabLst>
                <a:tab pos="173038" algn="l"/>
              </a:tabLst>
              <a:defRPr sz="1800" kern="1200" baseline="0">
                <a:solidFill>
                  <a:schemeClr val="tx1"/>
                </a:solidFill>
                <a:latin typeface="+mn-lt"/>
                <a:ea typeface="+mn-ea"/>
                <a:cs typeface="+mn-cs"/>
              </a:defRPr>
            </a:lvl4pPr>
            <a:lvl5pPr marL="439200" indent="-216000" algn="l" defTabSz="914400" rtl="0" eaLnBrk="1" latinLnBrk="0" hangingPunct="1">
              <a:lnSpc>
                <a:spcPts val="2000"/>
              </a:lnSpc>
              <a:spcBef>
                <a:spcPts val="0"/>
              </a:spcBef>
              <a:buFont typeface="Symbol" charset="2"/>
              <a:buChar char="-"/>
              <a:tabLst/>
              <a:defRPr sz="18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lvl="2" algn="ctr">
              <a:defRPr/>
            </a:pPr>
            <a:r>
              <a:rPr lang="de-DE" sz="1200" dirty="0">
                <a:solidFill>
                  <a:schemeClr val="bg1">
                    <a:lumMod val="50000"/>
                  </a:schemeClr>
                </a:solidFill>
              </a:rPr>
              <a:t>https://emanual.robotis.com/docs/en/platform/turtlebot3/features/</a:t>
            </a:r>
          </a:p>
        </p:txBody>
      </p:sp>
      <p:pic>
        <p:nvPicPr>
          <p:cNvPr id="9" name="Grafik 8" descr="Farbe Silhouette">
            <a:extLst>
              <a:ext uri="{FF2B5EF4-FFF2-40B4-BE49-F238E27FC236}">
                <a16:creationId xmlns:a16="http://schemas.microsoft.com/office/drawing/2014/main" xmlns="" id="{3251ADBB-A2DB-CE2E-E3A7-F28C7EC2C87C}"/>
              </a:ext>
            </a:extLst>
          </p:cNvPr>
          <p:cNvPicPr>
            <a:picLocks noChangeAspect="1"/>
          </p:cNvPicPr>
          <p:nvPr/>
        </p:nvPicPr>
        <p:blipFill>
          <a:blip r:embed="rId5">
            <a:extLst>
              <a:ext uri="{96DAC541-7B7A-43D3-8B79-37D633B846F1}">
                <asvg:svgBlip xmlns:asvg="http://schemas.microsoft.com/office/drawing/2016/SVG/main" xmlns="" r:embed="rId6"/>
              </a:ext>
            </a:extLst>
          </a:blip>
          <a:stretch>
            <a:fillRect/>
          </a:stretch>
        </p:blipFill>
        <p:spPr>
          <a:xfrm>
            <a:off x="8317850" y="589448"/>
            <a:ext cx="669938" cy="669938"/>
          </a:xfrm>
          <a:prstGeom prst="rect">
            <a:avLst/>
          </a:prstGeom>
        </p:spPr>
      </p:pic>
      <p:graphicFrame>
        <p:nvGraphicFramePr>
          <p:cNvPr id="10" name="Diagramm 9">
            <a:extLst>
              <a:ext uri="{FF2B5EF4-FFF2-40B4-BE49-F238E27FC236}">
                <a16:creationId xmlns:a16="http://schemas.microsoft.com/office/drawing/2014/main" xmlns="" id="{DBA0FEDF-8B86-87FC-4B7B-2D749BF09D73}"/>
              </a:ext>
            </a:extLst>
          </p:cNvPr>
          <p:cNvGraphicFramePr/>
          <p:nvPr>
            <p:extLst>
              <p:ext uri="{D42A27DB-BD31-4B8C-83A1-F6EECF244321}">
                <p14:modId xmlns:p14="http://schemas.microsoft.com/office/powerpoint/2010/main" val="3394309897"/>
              </p:ext>
            </p:extLst>
          </p:nvPr>
        </p:nvGraphicFramePr>
        <p:xfrm>
          <a:off x="4783596" y="340066"/>
          <a:ext cx="6244765" cy="75981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153412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0" presetClass="path" presetSubtype="0" repeatCount="indefinite" fill="hold" nodeType="withEffect">
                                  <p:stCondLst>
                                    <p:cond delay="0"/>
                                  </p:stCondLst>
                                  <p:childTnLst>
                                    <p:animMotion origin="layout" path="M -0.25352 -0.28218 L -0.23607 -0.28218 L -0.21498 -0.28102 L -0.19948 -0.27778 L -0.17852 -0.27547 L -0.17292 -0.27547 L -0.153 -0.27547 L -0.12956 -0.27547 L -0.12396 -0.27662 L -0.11901 -0.27778 L -0.10404 -0.28102 L -0.09727 -0.28334 L -0.0836 -0.28334 L -0.0694 -0.28102 L -0.07552 -0.26459 L -0.078 -0.25139 L -0.078 -0.23264 L -0.07748 -0.21505 L -0.07005 -0.19398 L -0.0582 -0.18079 L -0.04649 -0.17315 L -0.03399 -0.16644 L -0.01849 -0.16204 L -0.01237 -0.16088 L 0.0013 -0.16088 L 0.0168 -0.16528 L 0.02422 -0.16875 L 0.03346 -0.17199 L 0.03971 -0.17315 L 0.04713 -0.17963 L 0.05521 -0.1963 L 0.06198 -0.21389 L 0.06888 -0.23472 L 0.075 -0.25232 L 0.07812 -0.26134 L 0.08255 -0.27014 L 0.08932 -0.27547 L 0.09922 -0.27986 L 0.11107 -0.28218 L 0.11849 -0.28218 L 0.12773 -0.28426 L 0.1414 -0.28426 L 0.147 -0.28334 L 0.15625 -0.28102 L 0.16185 -0.27778 L 0.17109 -0.27338 L 0.18164 -0.26459 L 0.18789 -0.25463 L 0.19713 -0.2338 L 0.20403 -0.21945 L 0.21015 -0.19954 C 0.21732 -0.18681 0.21406 -0.19005 0.21823 -0.18634 L 0.22565 -0.17408 L 0.22695 -0.15324 L 0.22695 -0.13241 L 0.22695 -0.10695 L 0.22695 -0.09491 L 0.2276 -0.0706 L 0.2276 -0.04861 L 0.22695 -0.03195 L 0.22695 -0.0088 L 0.22383 0.02639 C 0.22252 0.03703 0.22252 0.03287 0.22252 0.03842 L 0.21823 0.05509 L 0.21575 0.06389 L 0.21393 0.07477 L 0.2095 0.08819 L 0.20156 0.10903 L 0.19153 0.12453 L 0.18359 0.13773 L 0.17057 0.14537 L 0.1625 0.14768 L 0.15195 0.14537 L 0.13763 0.14421 L 0.12708 0.13426 L 0.11719 0.11898 L 0.11289 0.11111 L 0.10846 0.10578 L 0.10234 0.09583 L 0.09362 0.08588 C 0.08724 0.08125 0.08971 0.08148 0.08685 0.08148 L 0.07318 0.07824 L 0.05338 0.07708 L 0.03607 0.08264 L 0.01992 0.09143 L 0.00443 0.10578 L -0.00677 0.11898 L -0.01237 0.14328 L -0.01979 0.16643 L -0.03281 0.1993 L -0.03958 0.23796 L -0.0582 0.27662 L -0.07995 0.31736 L -0.10222 0.33703 L -0.12761 0.34259 C -0.13464 0.34375 -0.13216 0.34375 -0.13503 0.34375 L -0.16797 0.34583 C -0.18138 0.34699 -0.17656 0.34699 -0.18216 0.34699 L -0.225 0.35046 L -0.2336 0.35046 L -0.26458 0.34375 L -0.27266 0.34259 L -0.28998 0.325 L -0.3086 0.30069 L -0.33099 0.27106 L -0.34024 0.24004 L -0.34583 0.21041 L -0.34948 0.17731 L -0.34766 0.16296 L -0.32539 0.14421 L -0.31914 0.14328 L -0.28503 0.13773 L -0.27891 0.13657 L -0.23672 0.12893 C -0.23008 0.12754 -0.23307 0.12778 -0.228 0.12778 L -0.19336 0.11898 L -0.15117 0.10139 L -0.1332 0.08356 L -0.13073 0.07477 L -0.11836 0.03518 C -0.11641 0.02106 -0.11758 0.02592 -0.11589 0.01967 L -0.11458 0.00092 L -0.11524 -0.0088 L -0.12448 -0.04746 L -0.14935 -0.07824 L -0.19089 -0.09699 L -0.19649 -0.10047 L -0.22253 -0.11134 L -0.26654 -0.1213 L -0.27201 -0.12454 L -0.29128 -0.13449 L -0.3086 -0.16435 L -0.31055 -0.20162 C -0.3112 -0.21273 -0.31107 -0.20834 -0.31107 -0.21505 L -0.31055 -0.24259 L -0.29935 -0.26574 L -0.27513 -0.27662 L -0.25781 -0.28218 L -0.25352 -0.28218 Z " pathEditMode="relative" ptsTypes="AAAAAAAAAAAAAAAAAAAAAAAAAAAAAAAAAAAAAAAAAAAAAAAAAAAAAAAAAAAAAAAAAAAAAAAAAAAAAAAAAAAAAAAAAAAAAAAAAAAAAAAAAAAAAAAAAAAAAAAAAAAAAAAAAAAAAAAAAAA">
                                      <p:cBhvr>
                                        <p:cTn id="15" dur="10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 grpId="0">
        <p:bldAsOne/>
      </p:bldGraphic>
    </p:bldLst>
  </p:timing>
</p:sld>
</file>

<file path=ppt/theme/theme1.xml><?xml version="1.0" encoding="utf-8"?>
<a:theme xmlns:a="http://schemas.openxmlformats.org/drawingml/2006/main" name="1. HAWK Schmucktitel">
  <a:themeElements>
    <a:clrScheme name="HAWK">
      <a:dk1>
        <a:srgbClr val="000000"/>
      </a:dk1>
      <a:lt1>
        <a:srgbClr val="FFFFFF"/>
      </a:lt1>
      <a:dk2>
        <a:srgbClr val="575756"/>
      </a:dk2>
      <a:lt2>
        <a:srgbClr val="A8ADB3"/>
      </a:lt2>
      <a:accent1>
        <a:srgbClr val="E9515A"/>
      </a:accent1>
      <a:accent2>
        <a:srgbClr val="B9C243"/>
      </a:accent2>
      <a:accent3>
        <a:srgbClr val="AF708B"/>
      </a:accent3>
      <a:accent4>
        <a:srgbClr val="009DB3"/>
      </a:accent4>
      <a:accent5>
        <a:srgbClr val="F6A500"/>
      </a:accent5>
      <a:accent6>
        <a:srgbClr val="5183C0"/>
      </a:accent6>
      <a:hlink>
        <a:srgbClr val="A8ADB3"/>
      </a:hlink>
      <a:folHlink>
        <a:srgbClr val="575756"/>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CD_19_11_10_PPT_I_BB_RZ.potx" id="{D9CD60D8-4DEC-3043-8EDB-806FFB4670B1}" vid="{9C8A9CE3-6503-FE4F-9180-9F7E73C55CC8}"/>
    </a:ext>
  </a:extLst>
</a:theme>
</file>

<file path=ppt/theme/theme2.xml><?xml version="1.0" encoding="utf-8"?>
<a:theme xmlns:a="http://schemas.openxmlformats.org/drawingml/2006/main" name="2. Schmucktitel Fakultät">
  <a:themeElements>
    <a:clrScheme name="HAWK">
      <a:dk1>
        <a:srgbClr val="000000"/>
      </a:dk1>
      <a:lt1>
        <a:srgbClr val="FFFFFF"/>
      </a:lt1>
      <a:dk2>
        <a:srgbClr val="575756"/>
      </a:dk2>
      <a:lt2>
        <a:srgbClr val="A8ADB3"/>
      </a:lt2>
      <a:accent1>
        <a:srgbClr val="E9515A"/>
      </a:accent1>
      <a:accent2>
        <a:srgbClr val="B9C243"/>
      </a:accent2>
      <a:accent3>
        <a:srgbClr val="AF708B"/>
      </a:accent3>
      <a:accent4>
        <a:srgbClr val="009DB3"/>
      </a:accent4>
      <a:accent5>
        <a:srgbClr val="F6A500"/>
      </a:accent5>
      <a:accent6>
        <a:srgbClr val="5183C0"/>
      </a:accent6>
      <a:hlink>
        <a:srgbClr val="A8ADB3"/>
      </a:hlink>
      <a:folHlink>
        <a:srgbClr val="575756"/>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CD_19_11_10_PPT_I_BB_RZ.potx" id="{D9CD60D8-4DEC-3043-8EDB-806FFB4670B1}" vid="{0725DB56-4299-FC47-A7BB-E2467EB0C9C8}"/>
    </a:ext>
  </a:extLst>
</a:theme>
</file>

<file path=ppt/theme/theme3.xml><?xml version="1.0" encoding="utf-8"?>
<a:theme xmlns:a="http://schemas.openxmlformats.org/drawingml/2006/main" name="3. Titel">
  <a:themeElements>
    <a:clrScheme name="HAWK">
      <a:dk1>
        <a:srgbClr val="000000"/>
      </a:dk1>
      <a:lt1>
        <a:srgbClr val="FFFFFF"/>
      </a:lt1>
      <a:dk2>
        <a:srgbClr val="575756"/>
      </a:dk2>
      <a:lt2>
        <a:srgbClr val="A8ADB3"/>
      </a:lt2>
      <a:accent1>
        <a:srgbClr val="E9515A"/>
      </a:accent1>
      <a:accent2>
        <a:srgbClr val="B9C243"/>
      </a:accent2>
      <a:accent3>
        <a:srgbClr val="AF708B"/>
      </a:accent3>
      <a:accent4>
        <a:srgbClr val="009DB3"/>
      </a:accent4>
      <a:accent5>
        <a:srgbClr val="F6A500"/>
      </a:accent5>
      <a:accent6>
        <a:srgbClr val="5183C0"/>
      </a:accent6>
      <a:hlink>
        <a:srgbClr val="A8ADB3"/>
      </a:hlink>
      <a:folHlink>
        <a:srgbClr val="575756"/>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CD_19_11_10_PPT_I_BB_RZ.potx" id="{D9CD60D8-4DEC-3043-8EDB-806FFB4670B1}" vid="{CC893103-444C-E04E-89A3-D2F0E959D8E3}"/>
    </a:ext>
  </a:extLst>
</a:theme>
</file>

<file path=ppt/theme/theme4.xml><?xml version="1.0" encoding="utf-8"?>
<a:theme xmlns:a="http://schemas.openxmlformats.org/drawingml/2006/main" name="4. Inhalt">
  <a:themeElements>
    <a:clrScheme name="HAWK">
      <a:dk1>
        <a:srgbClr val="000000"/>
      </a:dk1>
      <a:lt1>
        <a:srgbClr val="FFFFFF"/>
      </a:lt1>
      <a:dk2>
        <a:srgbClr val="575756"/>
      </a:dk2>
      <a:lt2>
        <a:srgbClr val="A8ADB3"/>
      </a:lt2>
      <a:accent1>
        <a:srgbClr val="E9515A"/>
      </a:accent1>
      <a:accent2>
        <a:srgbClr val="B9C243"/>
      </a:accent2>
      <a:accent3>
        <a:srgbClr val="AF708B"/>
      </a:accent3>
      <a:accent4>
        <a:srgbClr val="009DB3"/>
      </a:accent4>
      <a:accent5>
        <a:srgbClr val="F6A500"/>
      </a:accent5>
      <a:accent6>
        <a:srgbClr val="5183C0"/>
      </a:accent6>
      <a:hlink>
        <a:srgbClr val="A8ADB3"/>
      </a:hlink>
      <a:folHlink>
        <a:srgbClr val="575756"/>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CD_19_11_10_PPT_I_BB_RZ.potx" id="{D9CD60D8-4DEC-3043-8EDB-806FFB4670B1}" vid="{D381F98C-D0EE-C944-9440-8EB470AD7921}"/>
    </a:ext>
  </a:extLst>
</a:theme>
</file>

<file path=ppt/theme/theme5.xml><?xml version="1.0" encoding="utf-8"?>
<a:theme xmlns:a="http://schemas.openxmlformats.org/drawingml/2006/main" name="5. Schluss">
  <a:themeElements>
    <a:clrScheme name="HAWK">
      <a:dk1>
        <a:srgbClr val="000000"/>
      </a:dk1>
      <a:lt1>
        <a:srgbClr val="FFFFFF"/>
      </a:lt1>
      <a:dk2>
        <a:srgbClr val="575756"/>
      </a:dk2>
      <a:lt2>
        <a:srgbClr val="A8ADB3"/>
      </a:lt2>
      <a:accent1>
        <a:srgbClr val="E9515A"/>
      </a:accent1>
      <a:accent2>
        <a:srgbClr val="B9C243"/>
      </a:accent2>
      <a:accent3>
        <a:srgbClr val="AF708B"/>
      </a:accent3>
      <a:accent4>
        <a:srgbClr val="009DB3"/>
      </a:accent4>
      <a:accent5>
        <a:srgbClr val="F6A500"/>
      </a:accent5>
      <a:accent6>
        <a:srgbClr val="5183C0"/>
      </a:accent6>
      <a:hlink>
        <a:srgbClr val="A8ADB3"/>
      </a:hlink>
      <a:folHlink>
        <a:srgbClr val="575756"/>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CD_19_11_10_PPT_I_BB_RZ.potx" id="{D9CD60D8-4DEC-3043-8EDB-806FFB4670B1}" vid="{CF9DC49F-B936-B449-A6ED-93E55D259DF0}"/>
    </a:ext>
  </a:extLst>
</a:theme>
</file>

<file path=ppt/theme/theme6.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7.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Präsentation</Template>
  <TotalTime>0</TotalTime>
  <Words>1363</Words>
  <Application>Microsoft Office PowerPoint</Application>
  <PresentationFormat>Benutzerdefiniert</PresentationFormat>
  <Paragraphs>326</Paragraphs>
  <Slides>16</Slides>
  <Notes>15</Notes>
  <HiddenSlides>0</HiddenSlides>
  <MMClips>0</MMClips>
  <ScaleCrop>false</ScaleCrop>
  <HeadingPairs>
    <vt:vector size="4" baseType="variant">
      <vt:variant>
        <vt:lpstr>Design</vt:lpstr>
      </vt:variant>
      <vt:variant>
        <vt:i4>5</vt:i4>
      </vt:variant>
      <vt:variant>
        <vt:lpstr>Folientitel</vt:lpstr>
      </vt:variant>
      <vt:variant>
        <vt:i4>16</vt:i4>
      </vt:variant>
    </vt:vector>
  </HeadingPairs>
  <TitlesOfParts>
    <vt:vector size="21" baseType="lpstr">
      <vt:lpstr>1. HAWK Schmucktitel</vt:lpstr>
      <vt:lpstr>2. Schmucktitel Fakultät</vt:lpstr>
      <vt:lpstr>3. Titel</vt:lpstr>
      <vt:lpstr>4. Inhalt</vt:lpstr>
      <vt:lpstr>5. Schluss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Onken, Celina</dc:creator>
  <cp:lastModifiedBy>Janis Schneider</cp:lastModifiedBy>
  <cp:revision>11</cp:revision>
  <cp:lastPrinted>2020-03-25T11:05:45Z</cp:lastPrinted>
  <dcterms:created xsi:type="dcterms:W3CDTF">2025-03-04T19:37:41Z</dcterms:created>
  <dcterms:modified xsi:type="dcterms:W3CDTF">2025-03-06T17:34:13Z</dcterms:modified>
</cp:coreProperties>
</file>